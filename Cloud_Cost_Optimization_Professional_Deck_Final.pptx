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3" r:id="rId4"/>
    <p:sldId id="274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  <p:sldId id="275" r:id="rId14"/>
    <p:sldId id="269" r:id="rId15"/>
    <p:sldId id="268" r:id="rId16"/>
    <p:sldId id="270" r:id="rId17"/>
    <p:sldId id="27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9AA6"/>
                </a:solidFill>
                <a:latin typeface="Aptos"/>
              </a:defRPr>
            </a:pPr>
            <a:r>
              <a:t>ACCENTURE • DATA ANALYTICS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241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Cloud Cost</a:t>
            </a:r>
            <a:br/>
            <a:r>
              <a:t>Optimization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51460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D3DFE9"/>
                </a:solidFill>
                <a:latin typeface="Aptos"/>
              </a:defRPr>
            </a:pPr>
            <a:r>
              <a:rPr dirty="0"/>
              <a:t>Uncovering avoidable cloud spend across AWS, Azure &amp; GCP — and building the roadmap to reclaim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703320"/>
            <a:ext cx="2468880" cy="10789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13232" y="3703320"/>
            <a:ext cx="64008" cy="1078992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3831335"/>
            <a:ext cx="2194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101D2D"/>
                </a:solidFill>
                <a:latin typeface="Aptos"/>
              </a:defRPr>
            </a:pPr>
            <a:r>
              <a:t>$407,980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4261104"/>
            <a:ext cx="2194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57484"/>
                </a:solidFill>
                <a:latin typeface="Aptos"/>
              </a:defRPr>
            </a:pPr>
            <a:r>
              <a:t>FY2023 net spend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3703320"/>
            <a:ext cx="2468880" cy="10789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83280" y="3703320"/>
            <a:ext cx="64008" cy="1078992"/>
          </a:xfrm>
          <a:prstGeom prst="rect">
            <a:avLst/>
          </a:prstGeom>
          <a:solidFill>
            <a:srgbClr val="F28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66160" y="3831335"/>
            <a:ext cx="2194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101D2D"/>
                </a:solidFill>
                <a:latin typeface="Aptos"/>
              </a:defRPr>
            </a:pPr>
            <a:r>
              <a:t>+38.5%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4261104"/>
            <a:ext cx="2194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57484"/>
                </a:solidFill>
                <a:latin typeface="Aptos"/>
              </a:defRPr>
            </a:pPr>
            <a:r>
              <a:t>Jan → Dec growth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53328" y="3703320"/>
            <a:ext cx="2468880" cy="10789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053328" y="3703320"/>
            <a:ext cx="64008" cy="1078992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36208" y="3831335"/>
            <a:ext cx="2194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101D2D"/>
                </a:solidFill>
                <a:latin typeface="Aptos"/>
              </a:defRPr>
            </a:pPr>
            <a:r>
              <a:t>22.2%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6208" y="4261104"/>
            <a:ext cx="2194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57484"/>
                </a:solidFill>
                <a:latin typeface="Aptos"/>
              </a:defRPr>
            </a:pPr>
            <a:r>
              <a:t>Dev + Staging spend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23376" y="3703320"/>
            <a:ext cx="2468880" cy="10789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723376" y="3703320"/>
            <a:ext cx="64008" cy="1078992"/>
          </a:xfrm>
          <a:prstGeom prst="rect">
            <a:avLst/>
          </a:prstGeom>
          <a:solidFill>
            <a:srgbClr val="F28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06255" y="3831335"/>
            <a:ext cx="2194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101D2D"/>
                </a:solidFill>
                <a:latin typeface="Aptos"/>
              </a:defRPr>
            </a:pPr>
            <a:r>
              <a:t>$123K–$188K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06255" y="4261104"/>
            <a:ext cx="2194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57484"/>
                </a:solidFill>
                <a:latin typeface="Aptos"/>
              </a:defRPr>
            </a:pPr>
            <a:r>
              <a:t>Annual opportunity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89788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B7C7D4"/>
                </a:solidFill>
                <a:latin typeface="Aptos"/>
              </a:defRPr>
            </a:pPr>
            <a:r>
              <a:t>FY2023 Cloud Billing Analysis  |  Kaggle Cloud Budget Dataset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6519672"/>
            <a:ext cx="11155680" cy="9144"/>
          </a:xfrm>
          <a:prstGeom prst="rect">
            <a:avLst/>
          </a:prstGeom>
          <a:solidFill>
            <a:srgbClr val="E0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30352" y="655624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1">
                <a:solidFill>
                  <a:srgbClr val="657484"/>
                </a:solidFill>
                <a:latin typeface="Aptos"/>
              </a:defRPr>
            </a:pPr>
            <a:r>
              <a:t>CLOUD COST OPTIMIZATION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537960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657484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09AA6"/>
                </a:solidFill>
                <a:latin typeface="Aptos"/>
              </a:defRPr>
            </a:pPr>
            <a:r>
              <a:t>01 • PROBLEM &amp;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01D2D"/>
                </a:solidFill>
                <a:latin typeface="Aptos Display"/>
              </a:defRPr>
            </a:pPr>
            <a:r>
              <a:t>The question is not 'why is cloud expensive?' — it is 'what is avoidable?'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197864"/>
            <a:ext cx="10881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57484"/>
                </a:solidFill>
                <a:latin typeface="Aptos"/>
              </a:defRPr>
            </a:pPr>
            <a:r>
              <a:t>The project focuses on finding measurable waste without cutting operational capability.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5257800" cy="4251960"/>
          </a:xfrm>
          <a:prstGeom prst="roundRect">
            <a:avLst/>
          </a:prstGeom>
          <a:solidFill>
            <a:srgbClr val="F6F8FA"/>
          </a:solidFill>
          <a:ln w="8890"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938528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9AA6"/>
                </a:solidFill>
                <a:latin typeface="Aptos"/>
              </a:defRPr>
            </a:pPr>
            <a:r>
              <a:t>BUSINESS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395728"/>
            <a:ext cx="4572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01D2D"/>
                </a:solidFill>
                <a:latin typeface="Aptos"/>
              </a:defRPr>
            </a:pPr>
            <a:r>
              <a:t>Cloud spend increased 38.5% from January to December.</a:t>
            </a:r>
          </a:p>
          <a:p>
            <a:pPr>
              <a:spcAft>
                <a:spcPts val="700"/>
              </a:spcAft>
              <a:defRPr sz="1300">
                <a:solidFill>
                  <a:srgbClr val="101D2D"/>
                </a:solidFill>
                <a:latin typeface="Aptos"/>
              </a:defRPr>
            </a:pPr>
            <a:r>
              <a:t>Multi-cloud usage makes cost ownership and optimization harder.</a:t>
            </a:r>
          </a:p>
          <a:p>
            <a:pPr>
              <a:spcAft>
                <a:spcPts val="700"/>
              </a:spcAft>
              <a:defRPr sz="1300">
                <a:solidFill>
                  <a:srgbClr val="101D2D"/>
                </a:solidFill>
                <a:latin typeface="Aptos"/>
              </a:defRPr>
            </a:pPr>
            <a:r>
              <a:t>Non-production resources, low commitment coverage and high on-demand exposure may represent avoidable spend.</a:t>
            </a:r>
          </a:p>
          <a:p>
            <a:pPr>
              <a:spcAft>
                <a:spcPts val="700"/>
              </a:spcAft>
              <a:defRPr sz="1300">
                <a:solidFill>
                  <a:srgbClr val="101D2D"/>
                </a:solidFill>
                <a:latin typeface="Aptos"/>
              </a:defRPr>
            </a:pPr>
            <a:r>
              <a:t>Leadership needs a way to locate waste and prioritize action.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489204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2843D"/>
                </a:solidFill>
                <a:latin typeface="Aptos"/>
              </a:defRPr>
            </a:pPr>
            <a:r>
              <a:t>Kickoff target: identify ≥15% of annual spend as optimizable.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691640"/>
            <a:ext cx="5257800" cy="4251960"/>
          </a:xfrm>
          <a:prstGeom prst="roundRect">
            <a:avLst/>
          </a:prstGeom>
          <a:solidFill>
            <a:srgbClr val="101D2D"/>
          </a:solidFill>
          <a:ln w="8890">
            <a:solidFill>
              <a:srgbClr val="101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28232" y="1938528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2843D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2395728"/>
            <a:ext cx="4572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FFFFFF"/>
                </a:solidFill>
                <a:latin typeface="Aptos"/>
              </a:defRPr>
            </a:pPr>
            <a:r>
              <a:t>Analyze FY2023 cloud spending and usage.</a:t>
            </a:r>
          </a:p>
          <a:p>
            <a:pPr>
              <a:spcAft>
                <a:spcPts val="700"/>
              </a:spcAft>
              <a:defRPr sz="1300">
                <a:solidFill>
                  <a:srgbClr val="FFFFFF"/>
                </a:solidFill>
                <a:latin typeface="Aptos"/>
              </a:defRPr>
            </a:pPr>
            <a:r>
              <a:t>Engineer meaningful cost-efficiency KPIs.</a:t>
            </a:r>
          </a:p>
          <a:p>
            <a:pPr>
              <a:spcAft>
                <a:spcPts val="700"/>
              </a:spcAft>
              <a:defRPr sz="1300">
                <a:solidFill>
                  <a:srgbClr val="FFFFFF"/>
                </a:solidFill>
                <a:latin typeface="Aptos"/>
              </a:defRPr>
            </a:pPr>
            <a:r>
              <a:t>Detect anomalies and inefficient utilization.</a:t>
            </a:r>
          </a:p>
          <a:p>
            <a:pPr>
              <a:spcAft>
                <a:spcPts val="700"/>
              </a:spcAft>
              <a:defRPr sz="1300">
                <a:solidFill>
                  <a:srgbClr val="FFFFFF"/>
                </a:solidFill>
                <a:latin typeface="Aptos"/>
              </a:defRPr>
            </a:pPr>
            <a:r>
              <a:t>Identify high-value optimization opportunities.</a:t>
            </a:r>
          </a:p>
          <a:p>
            <a:pPr>
              <a:spcAft>
                <a:spcPts val="700"/>
              </a:spcAft>
              <a:defRPr sz="1300">
                <a:solidFill>
                  <a:srgbClr val="FFFFFF"/>
                </a:solidFill>
                <a:latin typeface="Aptos"/>
              </a:defRPr>
            </a:pPr>
            <a:r>
              <a:t>Build an interactive dashboard for decision-makers.</a:t>
            </a:r>
          </a:p>
          <a:p>
            <a:pPr>
              <a:spcAft>
                <a:spcPts val="700"/>
              </a:spcAft>
              <a:defRPr sz="1300">
                <a:solidFill>
                  <a:srgbClr val="FFFFFF"/>
                </a:solidFill>
                <a:latin typeface="Aptos"/>
              </a:defRPr>
            </a:pPr>
            <a:r>
              <a:t>Translate findings into prioritized recommendations.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519672"/>
            <a:ext cx="11155680" cy="9144"/>
          </a:xfrm>
          <a:prstGeom prst="rect">
            <a:avLst/>
          </a:prstGeom>
          <a:solidFill>
            <a:srgbClr val="E0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0352" y="655624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1">
                <a:solidFill>
                  <a:srgbClr val="657484"/>
                </a:solidFill>
                <a:latin typeface="Aptos"/>
              </a:defRPr>
            </a:pPr>
            <a:r>
              <a:t>CLOUD COST OPTIMIZATION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537960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657484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10896"/>
            <a:ext cx="1097280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09AA6"/>
                </a:solidFill>
                <a:latin typeface="Aptos"/>
              </a:defRPr>
            </a:pPr>
            <a:r>
              <a:rPr dirty="0"/>
              <a:t>0</a:t>
            </a:r>
            <a:r>
              <a:rPr lang="en-IN" dirty="0"/>
              <a:t>2</a:t>
            </a:r>
            <a:r>
              <a:rPr dirty="0"/>
              <a:t> • WORKFLOW /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0080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101D2D"/>
                </a:solidFill>
                <a:latin typeface="Aptos Display"/>
              </a:defRPr>
            </a:pPr>
            <a:r>
              <a:t>How the components work together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170432"/>
            <a:ext cx="108813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57484"/>
                </a:solidFill>
                <a:latin typeface="Aptos"/>
              </a:defRPr>
            </a:pPr>
            <a:r>
              <a:t>An end-to-end flow from source data to an executive decision layer.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2057400"/>
            <a:ext cx="1627632" cy="12344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2240280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09AA6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78608"/>
            <a:ext cx="13716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101D2D"/>
                </a:solidFill>
                <a:latin typeface="Aptos"/>
              </a:defRPr>
            </a:pPr>
            <a:r>
              <a:t>Kaggle Cloud</a:t>
            </a:r>
            <a:br/>
            <a:r>
              <a:t>Budget 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450592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65748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77440" y="2057400"/>
            <a:ext cx="1627632" cy="12344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87168" y="2240280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2843D"/>
                </a:solidFill>
                <a:latin typeface="Aptos"/>
              </a:defRPr>
            </a:pPr>
            <a:r>
              <a:t>PREP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87168" y="2578608"/>
            <a:ext cx="13716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101D2D"/>
                </a:solidFill>
                <a:latin typeface="Aptos"/>
              </a:defRPr>
            </a:pPr>
            <a:r>
              <a:t>Cleaning</a:t>
            </a:r>
            <a:br/>
            <a:r>
              <a:t>&amp; 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41648" y="2450592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65748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5968" y="2057400"/>
            <a:ext cx="1627632" cy="12344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25696" y="2240280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09AA6"/>
                </a:solidFill>
                <a:latin typeface="Aptos"/>
              </a:defRPr>
            </a:pPr>
            <a:r>
              <a:t>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5696" y="2578608"/>
            <a:ext cx="13716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101D2D"/>
                </a:solidFill>
                <a:latin typeface="Aptos"/>
              </a:defRPr>
            </a:pPr>
            <a:r>
              <a:t>KPI Engineering</a:t>
            </a:r>
            <a:br/>
            <a:r>
              <a:t>+ EDA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0176" y="2450592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65748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54496" y="2057400"/>
            <a:ext cx="1627632" cy="12344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64224" y="2240280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2843D"/>
                </a:solidFill>
                <a:latin typeface="Aptos"/>
              </a:defRPr>
            </a:pPr>
            <a:r>
              <a:t>INSIGHT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4224" y="2578608"/>
            <a:ext cx="13716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101D2D"/>
                </a:solidFill>
                <a:latin typeface="Aptos"/>
              </a:defRPr>
            </a:pPr>
            <a:r>
              <a:t>Hotspots</a:t>
            </a:r>
            <a:br/>
            <a:r>
              <a:t>+ Waste Signals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18704" y="2450592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65748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93024" y="2057400"/>
            <a:ext cx="1627632" cy="12344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02752" y="2240280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09AA6"/>
                </a:solidFill>
                <a:latin typeface="Aptos"/>
              </a:defRPr>
            </a:pPr>
            <a:r>
              <a:t>APP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2578608"/>
            <a:ext cx="13716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101D2D"/>
                </a:solidFill>
                <a:latin typeface="Aptos"/>
              </a:defRPr>
            </a:pPr>
            <a:r>
              <a:t>Streamlit +</a:t>
            </a:r>
            <a:br/>
            <a:r>
              <a:t>Plotly 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57232" y="2450592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65748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131552" y="2057400"/>
            <a:ext cx="1627632" cy="12344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241280" y="2240280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2843D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2578608"/>
            <a:ext cx="13716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101D2D"/>
                </a:solidFill>
                <a:latin typeface="Aptos"/>
              </a:defRPr>
            </a:pPr>
            <a:r>
              <a:t>Recommendations</a:t>
            </a:r>
            <a:br/>
            <a:r>
              <a:t>+ Roadmap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3977639"/>
            <a:ext cx="3429000" cy="1325880"/>
          </a:xfrm>
          <a:prstGeom prst="roundRect">
            <a:avLst/>
          </a:prstGeom>
          <a:solidFill>
            <a:srgbClr val="F6F8FA"/>
          </a:solidFill>
          <a:ln w="8890"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4206240"/>
            <a:ext cx="2971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09AA6"/>
                </a:solidFill>
                <a:latin typeface="Aptos"/>
              </a:defRPr>
            </a:pPr>
            <a:r>
              <a:t>FINANCE 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526280"/>
            <a:ext cx="2971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01D2D"/>
                </a:solidFill>
                <a:latin typeface="Aptos"/>
              </a:defRPr>
            </a:pPr>
            <a:r>
              <a:t>Spend, efficiency, savings opportunity and project prioritization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89120" y="3977639"/>
            <a:ext cx="3429000" cy="1325880"/>
          </a:xfrm>
          <a:prstGeom prst="roundRect">
            <a:avLst/>
          </a:prstGeom>
          <a:solidFill>
            <a:srgbClr val="F6F8FA"/>
          </a:solidFill>
          <a:ln w="8890"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617720" y="4206240"/>
            <a:ext cx="2971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2843D"/>
                </a:solidFill>
                <a:latin typeface="Aptos"/>
              </a:defRPr>
            </a:pPr>
            <a:r>
              <a:t>ENGINEERING 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17720" y="4526280"/>
            <a:ext cx="2971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01D2D"/>
                </a:solidFill>
                <a:latin typeface="Aptos"/>
              </a:defRPr>
            </a:pPr>
            <a:r>
              <a:t>Resources, environments, exposure, service and region hotspots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92440" y="3977639"/>
            <a:ext cx="3429000" cy="1325880"/>
          </a:xfrm>
          <a:prstGeom prst="roundRect">
            <a:avLst/>
          </a:prstGeom>
          <a:solidFill>
            <a:srgbClr val="101D2D"/>
          </a:solidFill>
          <a:ln w="8890">
            <a:solidFill>
              <a:srgbClr val="101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321040" y="4206240"/>
            <a:ext cx="2971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09AA6"/>
                </a:solidFill>
                <a:latin typeface="Aptos"/>
              </a:defRPr>
            </a:pPr>
            <a:r>
              <a:t>DECISION LAYER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4526280"/>
            <a:ext cx="2971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ptos"/>
              </a:defRPr>
            </a:pPr>
            <a:r>
              <a:t>Prioritized actions with measurable targets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6519672"/>
            <a:ext cx="11155680" cy="9144"/>
          </a:xfrm>
          <a:prstGeom prst="rect">
            <a:avLst/>
          </a:prstGeom>
          <a:solidFill>
            <a:srgbClr val="E0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30352" y="6547104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1">
                <a:solidFill>
                  <a:srgbClr val="657484"/>
                </a:solidFill>
                <a:latin typeface="Aptos"/>
              </a:defRPr>
            </a:pPr>
            <a:r>
              <a:t>WORKFLOW / SYSTEM ARCHITECTURE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81360" y="6537960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657484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10896"/>
            <a:ext cx="1097280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09AA6"/>
                </a:solidFill>
                <a:latin typeface="Aptos"/>
              </a:defRPr>
            </a:pPr>
            <a:r>
              <a:rPr dirty="0"/>
              <a:t>0</a:t>
            </a:r>
            <a:r>
              <a:rPr lang="en-IN" dirty="0"/>
              <a:t>3</a:t>
            </a:r>
            <a:r>
              <a:rPr dirty="0"/>
              <a:t>• TOOL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0080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101D2D"/>
                </a:solidFill>
                <a:latin typeface="Aptos Display"/>
              </a:defRPr>
            </a:pPr>
            <a:r>
              <a:t>Technology used across the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170432"/>
            <a:ext cx="108813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57484"/>
                </a:solidFill>
                <a:latin typeface="Aptos"/>
              </a:defRPr>
            </a:pPr>
            <a:r>
              <a:t>Lightweight, reproducible tools support data preparation, analysis, visualization and delivery.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5166360" cy="8229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792224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01D2D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783080"/>
            <a:ext cx="2971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57484"/>
                </a:solidFill>
                <a:latin typeface="Aptos"/>
              </a:defRPr>
            </a:pPr>
            <a:r>
              <a:t>Core analytical language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166360" cy="8229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19088" y="1792224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01D2D"/>
                </a:solidFill>
                <a:latin typeface="Aptos"/>
              </a:defRPr>
            </a:pPr>
            <a:r>
              <a:t>Pandas / NumPy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1783080"/>
            <a:ext cx="2971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57484"/>
                </a:solidFill>
                <a:latin typeface="Aptos"/>
              </a:defRPr>
            </a:pPr>
            <a:r>
              <a:t>Cleaning, transformation and KPI calculations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697480"/>
            <a:ext cx="5166360" cy="8229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6968" y="2843784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01D2D"/>
                </a:solidFill>
                <a:latin typeface="Aptos"/>
              </a:defRPr>
            </a:pPr>
            <a:r>
              <a:t>Matplotlib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2834640"/>
            <a:ext cx="2971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57484"/>
                </a:solidFill>
                <a:latin typeface="Aptos"/>
              </a:defRPr>
            </a:pPr>
            <a:r>
              <a:t>EDA visualizations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697480"/>
            <a:ext cx="5166360" cy="8229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19088" y="2843784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01D2D"/>
                </a:solidFill>
                <a:latin typeface="Aptos"/>
              </a:defRPr>
            </a:pPr>
            <a:r>
              <a:t>Plotly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2834640"/>
            <a:ext cx="2971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57484"/>
                </a:solidFill>
                <a:latin typeface="Aptos"/>
              </a:defRPr>
            </a:pPr>
            <a:r>
              <a:t>Interactive dashboard charts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749039"/>
            <a:ext cx="5166360" cy="8229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6968" y="3895344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01D2D"/>
                </a:solidFill>
                <a:latin typeface="Aptos"/>
              </a:defRPr>
            </a:pPr>
            <a:r>
              <a:t>Streamlit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14600" y="3886200"/>
            <a:ext cx="2971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57484"/>
                </a:solidFill>
                <a:latin typeface="Aptos"/>
              </a:defRPr>
            </a:pPr>
            <a:r>
              <a:t>Dashboard application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749039"/>
            <a:ext cx="5166360" cy="8229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19088" y="3895344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01D2D"/>
                </a:solidFill>
                <a:latin typeface="Aptos"/>
              </a:defRPr>
            </a:pPr>
            <a:r>
              <a:t>Jupyter / VS Code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3886200"/>
            <a:ext cx="2971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57484"/>
                </a:solidFill>
                <a:latin typeface="Aptos"/>
              </a:defRPr>
            </a:pPr>
            <a:r>
              <a:t>Development and analysis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800600"/>
            <a:ext cx="5166360" cy="8229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86968" y="4946904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01D2D"/>
                </a:solidFill>
                <a:latin typeface="Aptos"/>
              </a:defRPr>
            </a:pPr>
            <a:r>
              <a:t>Git / GitHub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14600" y="4937760"/>
            <a:ext cx="2971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57484"/>
                </a:solidFill>
                <a:latin typeface="Aptos"/>
              </a:defRPr>
            </a:pPr>
            <a:r>
              <a:t>Version control and repository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4800600"/>
            <a:ext cx="5166360" cy="8229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19088" y="4946904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01D2D"/>
                </a:solidFill>
                <a:latin typeface="Aptos"/>
              </a:defRPr>
            </a:pPr>
            <a:r>
              <a:t>CSV / Kaggle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4937760"/>
            <a:ext cx="2971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57484"/>
                </a:solidFill>
                <a:latin typeface="Aptos"/>
              </a:defRPr>
            </a:pPr>
            <a:r>
              <a:t>Source data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6519672"/>
            <a:ext cx="11155680" cy="9144"/>
          </a:xfrm>
          <a:prstGeom prst="rect">
            <a:avLst/>
          </a:prstGeom>
          <a:solidFill>
            <a:srgbClr val="E0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30352" y="6547104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1">
                <a:solidFill>
                  <a:srgbClr val="657484"/>
                </a:solidFill>
                <a:latin typeface="Aptos"/>
              </a:defRPr>
            </a:pPr>
            <a:r>
              <a:t>TOOL STACK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81360" y="6537960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657484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1097280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09AA6"/>
                </a:solidFill>
                <a:latin typeface="Aptos"/>
              </a:defRPr>
            </a:pPr>
            <a:r>
              <a:rPr dirty="0"/>
              <a:t>0</a:t>
            </a:r>
            <a:r>
              <a:rPr lang="en-IN" dirty="0"/>
              <a:t>4</a:t>
            </a:r>
            <a:r>
              <a:rPr dirty="0"/>
              <a:t> • DATASET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01D2D"/>
                </a:solidFill>
                <a:latin typeface="Aptos Display"/>
              </a:defRPr>
            </a:pPr>
            <a:r>
              <a:t>A full year of daily, resource-level cloud billing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197864"/>
            <a:ext cx="10881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57484"/>
                </a:solidFill>
                <a:latin typeface="Aptos"/>
              </a:defRPr>
            </a:pPr>
            <a:r>
              <a:t>Source: Kaggle Cloud Budget Dataset • FY2023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2057400" cy="9326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600200"/>
            <a:ext cx="64008" cy="932688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728216"/>
            <a:ext cx="1783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101D2D"/>
                </a:solidFill>
                <a:latin typeface="Aptos"/>
              </a:defRPr>
            </a:pPr>
            <a:r>
              <a:t>54,750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57984"/>
            <a:ext cx="1783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57484"/>
                </a:solidFill>
                <a:latin typeface="Aptos"/>
              </a:defRPr>
            </a:pPr>
            <a:r>
              <a:t>billing records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62072" y="1600200"/>
            <a:ext cx="2057400" cy="9326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862072" y="1600200"/>
            <a:ext cx="64008" cy="932688"/>
          </a:xfrm>
          <a:prstGeom prst="rect">
            <a:avLst/>
          </a:prstGeom>
          <a:solidFill>
            <a:srgbClr val="F28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44952" y="1728216"/>
            <a:ext cx="1783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101D2D"/>
                </a:solidFill>
                <a:latin typeface="Aptos"/>
              </a:defRPr>
            </a:pPr>
            <a:r>
              <a:t>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44952" y="2157984"/>
            <a:ext cx="1783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57484"/>
                </a:solidFill>
                <a:latin typeface="Aptos"/>
              </a:defRPr>
            </a:pPr>
            <a:r>
              <a:t>columns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9784" y="1600200"/>
            <a:ext cx="2057400" cy="9326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129784" y="1600200"/>
            <a:ext cx="64008" cy="932688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12664" y="1728216"/>
            <a:ext cx="1783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101D2D"/>
                </a:solidFill>
                <a:latin typeface="Aptos"/>
              </a:defRPr>
            </a:pPr>
            <a:r>
              <a:t>365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12664" y="2157984"/>
            <a:ext cx="1783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57484"/>
                </a:solidFill>
                <a:latin typeface="Aptos"/>
              </a:defRPr>
            </a:pPr>
            <a:r>
              <a:t>days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97496" y="1600200"/>
            <a:ext cx="2057400" cy="9326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97496" y="1600200"/>
            <a:ext cx="64008" cy="932688"/>
          </a:xfrm>
          <a:prstGeom prst="rect">
            <a:avLst/>
          </a:prstGeom>
          <a:solidFill>
            <a:srgbClr val="F28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80375" y="1728216"/>
            <a:ext cx="1783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101D2D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0375" y="2157984"/>
            <a:ext cx="1783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57484"/>
                </a:solidFill>
                <a:latin typeface="Aptos"/>
              </a:defRPr>
            </a:pPr>
            <a:r>
              <a:t>providers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65208" y="1600200"/>
            <a:ext cx="2057400" cy="9326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665208" y="1600200"/>
            <a:ext cx="64008" cy="932688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848088" y="1728216"/>
            <a:ext cx="1783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101D2D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48088" y="2157984"/>
            <a:ext cx="1783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57484"/>
                </a:solidFill>
                <a:latin typeface="Aptos"/>
              </a:defRPr>
            </a:pPr>
            <a:r>
              <a:t>regions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2788920"/>
            <a:ext cx="5349240" cy="2514600"/>
          </a:xfrm>
          <a:prstGeom prst="roundRect">
            <a:avLst/>
          </a:prstGeom>
          <a:solidFill>
            <a:srgbClr val="F6F8FA"/>
          </a:solidFill>
          <a:ln w="8890"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0392" y="3035808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9AA6"/>
                </a:solidFill>
                <a:latin typeface="Aptos"/>
              </a:defRPr>
            </a:pPr>
            <a:r>
              <a:t>COVERAGE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" y="3429000"/>
            <a:ext cx="46177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273443"/>
                </a:solidFill>
                <a:latin typeface="Aptos"/>
              </a:defRPr>
            </a:pPr>
            <a:r>
              <a:t>Business units: Finance, Marketing, HR, Engineering, Sales</a:t>
            </a:r>
          </a:p>
          <a:p>
            <a:pPr>
              <a:spcAft>
                <a:spcPts val="700"/>
              </a:spcAft>
              <a:defRPr sz="1100">
                <a:solidFill>
                  <a:srgbClr val="273443"/>
                </a:solidFill>
                <a:latin typeface="Aptos"/>
              </a:defRPr>
            </a:pPr>
            <a:r>
              <a:t>Departments: Mobile, BI, DataPlatform, Security, WebApps</a:t>
            </a:r>
          </a:p>
          <a:p>
            <a:pPr>
              <a:spcAft>
                <a:spcPts val="700"/>
              </a:spcAft>
              <a:defRPr sz="1100">
                <a:solidFill>
                  <a:srgbClr val="273443"/>
                </a:solidFill>
                <a:latin typeface="Aptos"/>
              </a:defRPr>
            </a:pPr>
            <a:r>
              <a:t>Environments: Production, Staging, Dev</a:t>
            </a:r>
          </a:p>
          <a:p>
            <a:pPr>
              <a:spcAft>
                <a:spcPts val="700"/>
              </a:spcAft>
              <a:defRPr sz="1100">
                <a:solidFill>
                  <a:srgbClr val="273443"/>
                </a:solidFill>
                <a:latin typeface="Aptos"/>
              </a:defRPr>
            </a:pPr>
            <a:r>
              <a:t>Services: Serverless, Container, DB, Compute, Storage, Analytics, Networking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2788920"/>
            <a:ext cx="5166360" cy="2514600"/>
          </a:xfrm>
          <a:prstGeom prst="roundRect">
            <a:avLst/>
          </a:prstGeom>
          <a:solidFill>
            <a:srgbClr val="101D2D"/>
          </a:solidFill>
          <a:ln w="8890">
            <a:solidFill>
              <a:srgbClr val="101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28232" y="3035808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2843D"/>
                </a:solidFill>
                <a:latin typeface="Aptos"/>
              </a:defRPr>
            </a:pPr>
            <a:r>
              <a:t>DATA QUALITY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28232" y="3429000"/>
            <a:ext cx="4480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"/>
              </a:defRPr>
            </a:pPr>
            <a:r>
              <a:t>9 / 10 overall quality score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8232" y="3977639"/>
            <a:ext cx="4480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0 missing values • 0 duplicates</a:t>
            </a:r>
          </a:p>
          <a:p>
            <a:pPr>
              <a:spcAft>
                <a:spcPts val="7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10 structural issues identified and resolved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6519672"/>
            <a:ext cx="11155680" cy="9144"/>
          </a:xfrm>
          <a:prstGeom prst="rect">
            <a:avLst/>
          </a:prstGeom>
          <a:solidFill>
            <a:srgbClr val="E0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30352" y="655624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1">
                <a:solidFill>
                  <a:srgbClr val="657484"/>
                </a:solidFill>
                <a:latin typeface="Aptos"/>
              </a:defRPr>
            </a:pPr>
            <a:r>
              <a:t>CLOUD COST OPTIMIZATION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81360" y="6537960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657484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1097280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09AA6"/>
                </a:solidFill>
                <a:latin typeface="Aptos"/>
              </a:defRPr>
            </a:pPr>
            <a:r>
              <a:rPr dirty="0"/>
              <a:t>0</a:t>
            </a:r>
            <a:r>
              <a:rPr lang="en-IN" dirty="0"/>
              <a:t>5</a:t>
            </a:r>
            <a:r>
              <a:rPr dirty="0"/>
              <a:t> • DATA PREPROCESSING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01D2D"/>
                </a:solidFill>
                <a:latin typeface="Aptos Display"/>
              </a:defRPr>
            </a:pPr>
            <a:r>
              <a:t>Step 1 — Clean the raw billing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197864"/>
            <a:ext cx="10881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57484"/>
                </a:solidFill>
                <a:latin typeface="Aptos"/>
              </a:defRPr>
            </a:pPr>
            <a:r>
              <a:t>The goal was to make the source data reliable and analysis-ready before calculating any KPI.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45920"/>
            <a:ext cx="3337560" cy="4343400"/>
          </a:xfrm>
          <a:prstGeom prst="roundRect">
            <a:avLst/>
          </a:prstGeom>
          <a:solidFill>
            <a:srgbClr val="101D2D"/>
          </a:solidFill>
          <a:ln w="8890">
            <a:solidFill>
              <a:srgbClr val="101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901952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2843D"/>
                </a:solidFill>
                <a:latin typeface="Aptos"/>
              </a:defRPr>
            </a:pPr>
            <a:r>
              <a:t>RAW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331720"/>
            <a:ext cx="2651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FFFFF"/>
                </a:solidFill>
                <a:latin typeface="Aptos Display"/>
              </a:defRPr>
            </a:pPr>
            <a:r>
              <a:t>54,750</a:t>
            </a:r>
            <a:br/>
            <a:r>
              <a:t>resource-day records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3401568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B9C9D6"/>
                </a:solidFill>
                <a:latin typeface="Aptos"/>
              </a:defRPr>
            </a:pPr>
            <a:r>
              <a:t>Initial risks identified during profiling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3767328"/>
            <a:ext cx="26974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Denormalized tags</a:t>
            </a:r>
          </a:p>
          <a:p>
            <a:pPr>
              <a:spcAft>
                <a:spcPts val="7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Inactive anomaly flag</a:t>
            </a:r>
          </a:p>
          <a:p>
            <a:pPr>
              <a:spcAft>
                <a:spcPts val="7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Forecast outliers</a:t>
            </a:r>
          </a:p>
          <a:p>
            <a:pPr>
              <a:spcAft>
                <a:spcPts val="7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Invalid daily budget comparison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96512" y="324612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600" b="1">
                <a:solidFill>
                  <a:srgbClr val="009AA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83480" y="1645920"/>
            <a:ext cx="6355080" cy="4343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57800" y="1901952"/>
            <a:ext cx="5577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9AA6"/>
                </a:solidFill>
                <a:latin typeface="Aptos"/>
              </a:defRPr>
            </a:pPr>
            <a:r>
              <a:t>CLEANING &amp; VALIDATION STEPS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2331720"/>
            <a:ext cx="3474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009AA6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2331720"/>
            <a:ext cx="1417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01D2D"/>
                </a:solidFill>
                <a:latin typeface="Aptos"/>
              </a:defRPr>
            </a:pPr>
            <a:r>
              <a:t>Date normalization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2331720"/>
            <a:ext cx="3886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657484"/>
                </a:solidFill>
                <a:latin typeface="Aptos"/>
              </a:defRPr>
            </a:pPr>
            <a:r>
              <a:t>Converted date strings to true datetime values.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2990087"/>
            <a:ext cx="3474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009AA6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2990087"/>
            <a:ext cx="1417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01D2D"/>
                </a:solidFill>
                <a:latin typeface="Aptos"/>
              </a:defRPr>
            </a:pPr>
            <a:r>
              <a:t>Tag parsing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2990087"/>
            <a:ext cx="3886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657484"/>
                </a:solidFill>
                <a:latin typeface="Aptos"/>
              </a:defRPr>
            </a:pPr>
            <a:r>
              <a:t>Parsed the denormalized tags field into 5 queryable columns and cross-validated against source columns.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3648456"/>
            <a:ext cx="3474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009AA6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3648456"/>
            <a:ext cx="1417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01D2D"/>
                </a:solidFill>
                <a:latin typeface="Aptos"/>
              </a:defRPr>
            </a:pPr>
            <a:r>
              <a:t>Anomaly repair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3648456"/>
            <a:ext cx="3886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657484"/>
                </a:solidFill>
                <a:latin typeface="Aptos"/>
              </a:defRPr>
            </a:pPr>
            <a:r>
              <a:t>Re-engineered a working anomaly flag using the 95th percentile of anomaly_score (&gt;0.58).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7800" y="4306824"/>
            <a:ext cx="3474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009AA6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4306824"/>
            <a:ext cx="1417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01D2D"/>
                </a:solidFill>
                <a:latin typeface="Aptos"/>
              </a:defRPr>
            </a:pPr>
            <a:r>
              <a:t>Forecast outliers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4306824"/>
            <a:ext cx="3886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657484"/>
                </a:solidFill>
                <a:latin typeface="Aptos"/>
              </a:defRPr>
            </a:pPr>
            <a:r>
              <a:t>Flagged forecast outliers using the IQR method; records were retained rather than removed.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57800" y="4965192"/>
            <a:ext cx="3474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009AA6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4965192"/>
            <a:ext cx="1417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01D2D"/>
                </a:solidFill>
                <a:latin typeface="Aptos"/>
              </a:defRPr>
            </a:pPr>
            <a:r>
              <a:t>Budget utilization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4965192"/>
            <a:ext cx="3886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657484"/>
                </a:solidFill>
                <a:latin typeface="Aptos"/>
              </a:defRPr>
            </a:pPr>
            <a:r>
              <a:t>Recalculated budget utilization at the monthly level because the daily-vs-monthly comparison was not meaningful.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257800" y="5486400"/>
            <a:ext cx="5577840" cy="347472"/>
          </a:xfrm>
          <a:prstGeom prst="roundRect">
            <a:avLst/>
          </a:prstGeom>
          <a:solidFill>
            <a:srgbClr val="F6F8FA"/>
          </a:solidFill>
          <a:ln w="8890"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40680" y="5568696"/>
            <a:ext cx="5212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01D2D"/>
                </a:solidFill>
                <a:latin typeface="Aptos"/>
              </a:defRPr>
            </a:pPr>
            <a:r>
              <a:t>Result: trustworthy, analysis-ready billing data.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6519672"/>
            <a:ext cx="11155680" cy="9144"/>
          </a:xfrm>
          <a:prstGeom prst="rect">
            <a:avLst/>
          </a:prstGeom>
          <a:solidFill>
            <a:srgbClr val="E0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30352" y="655624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1">
                <a:solidFill>
                  <a:srgbClr val="657484"/>
                </a:solidFill>
                <a:latin typeface="Aptos"/>
              </a:defRPr>
            </a:pPr>
            <a:r>
              <a:t>DATA PREPROCESSING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81360" y="6537960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657484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1097280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09AA6"/>
                </a:solidFill>
                <a:latin typeface="Aptos"/>
              </a:defRPr>
            </a:pPr>
            <a:r>
              <a:rPr dirty="0"/>
              <a:t>0</a:t>
            </a:r>
            <a:r>
              <a:rPr lang="en-IN" dirty="0"/>
              <a:t>5</a:t>
            </a:r>
            <a:r>
              <a:rPr dirty="0"/>
              <a:t>• DATA PREPROCESSING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01D2D"/>
                </a:solidFill>
                <a:latin typeface="Aptos Display"/>
              </a:defRPr>
            </a:pPr>
            <a:r>
              <a:t>Step 2 — Engineer decision-ready KPIs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197864"/>
            <a:ext cx="10881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57484"/>
                </a:solidFill>
                <a:latin typeface="Aptos"/>
              </a:defRPr>
            </a:pPr>
            <a:r>
              <a:t>The cleaned fields were transformed into metrics that connect billing behavior to optimization decisions.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5303520" cy="1024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46504"/>
            <a:ext cx="493775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01D2D"/>
                </a:solidFill>
                <a:latin typeface="Aptos"/>
              </a:defRPr>
            </a:pPr>
            <a:r>
              <a:t>Cost Efficiency Ratio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2148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09AA6"/>
                </a:solidFill>
                <a:latin typeface="Aptos"/>
              </a:defRPr>
            </a:pPr>
            <a:r>
              <a:t>net_cost / list_cost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039112"/>
            <a:ext cx="26974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57484"/>
                </a:solidFill>
                <a:latin typeface="Aptos"/>
              </a:defRPr>
            </a:pPr>
            <a:r>
              <a:t>How much of list cost becomes net cost?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00200"/>
            <a:ext cx="5303520" cy="1024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746504"/>
            <a:ext cx="493775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01D2D"/>
                </a:solidFill>
                <a:latin typeface="Aptos"/>
              </a:defRPr>
            </a:pPr>
            <a:r>
              <a:t>Discount Utilization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057400"/>
            <a:ext cx="2148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09AA6"/>
                </a:solidFill>
                <a:latin typeface="Aptos"/>
              </a:defRPr>
            </a:pPr>
            <a:r>
              <a:t>discount_amount / list_cost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2039112"/>
            <a:ext cx="26974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57484"/>
                </a:solidFill>
                <a:latin typeface="Aptos"/>
              </a:defRPr>
            </a:pPr>
            <a:r>
              <a:t>How effectively are available discounts used?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2834640"/>
            <a:ext cx="5303520" cy="1024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2980944"/>
            <a:ext cx="493775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01D2D"/>
                </a:solidFill>
                <a:latin typeface="Aptos"/>
              </a:defRPr>
            </a:pPr>
            <a:r>
              <a:t>On-Demand Exposure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291840"/>
            <a:ext cx="2148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09AA6"/>
                </a:solidFill>
                <a:latin typeface="Aptos"/>
              </a:defRPr>
            </a:pPr>
            <a:r>
              <a:t>on_demand_cost / net_cost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3273552"/>
            <a:ext cx="26974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57484"/>
                </a:solidFill>
                <a:latin typeface="Aptos"/>
              </a:defRPr>
            </a:pPr>
            <a:r>
              <a:t>How much spend remains exposed to on-demand pricing?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834640"/>
            <a:ext cx="5303520" cy="1024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2980944"/>
            <a:ext cx="493775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01D2D"/>
                </a:solidFill>
                <a:latin typeface="Aptos"/>
              </a:defRPr>
            </a:pPr>
            <a:r>
              <a:t>Idle Resource Indicator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291840"/>
            <a:ext cx="2148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09AA6"/>
                </a:solidFill>
                <a:latin typeface="Aptos"/>
              </a:defRPr>
            </a:pPr>
            <a:r>
              <a:t>1 if exposure &gt; 80%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1080" y="3273552"/>
            <a:ext cx="26974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57484"/>
                </a:solidFill>
                <a:latin typeface="Aptos"/>
              </a:defRPr>
            </a:pPr>
            <a:r>
              <a:t>Proxy for high-exposure / potentially idle usage.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4069080"/>
            <a:ext cx="5303520" cy="1024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4215384"/>
            <a:ext cx="493775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01D2D"/>
                </a:solidFill>
                <a:latin typeface="Aptos"/>
              </a:defRPr>
            </a:pPr>
            <a:r>
              <a:t>Cost per Usage Unit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526280"/>
            <a:ext cx="2148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09AA6"/>
                </a:solidFill>
                <a:latin typeface="Aptos"/>
              </a:defRPr>
            </a:pPr>
            <a:r>
              <a:t>net_cost / usage_quantity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4507992"/>
            <a:ext cx="26974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57484"/>
                </a:solidFill>
                <a:latin typeface="Aptos"/>
              </a:defRPr>
            </a:pPr>
            <a:r>
              <a:t>Normalizes cost against observed usage.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5349240"/>
            <a:ext cx="5166360" cy="621792"/>
          </a:xfrm>
          <a:prstGeom prst="roundRect">
            <a:avLst/>
          </a:prstGeom>
          <a:solidFill>
            <a:srgbClr val="101D2D"/>
          </a:solidFill>
          <a:ln w="8890">
            <a:solidFill>
              <a:srgbClr val="101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46520" y="5504688"/>
            <a:ext cx="4709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These KPIs make raw billing data actionable for FinOps decisions.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519672"/>
            <a:ext cx="11155680" cy="9144"/>
          </a:xfrm>
          <a:prstGeom prst="rect">
            <a:avLst/>
          </a:prstGeom>
          <a:solidFill>
            <a:srgbClr val="E0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30352" y="655624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1">
                <a:solidFill>
                  <a:srgbClr val="657484"/>
                </a:solidFill>
                <a:latin typeface="Aptos"/>
              </a:defRPr>
            </a:pPr>
            <a:r>
              <a:t>DATA PREPROCESSING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537960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657484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1097280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09AA6"/>
                </a:solidFill>
                <a:latin typeface="Aptos"/>
              </a:defRPr>
            </a:pPr>
            <a:r>
              <a:rPr dirty="0"/>
              <a:t>0</a:t>
            </a:r>
            <a:r>
              <a:rPr lang="en-IN" dirty="0"/>
              <a:t>6</a:t>
            </a:r>
            <a:r>
              <a:rPr dirty="0"/>
              <a:t> • EDA — COST &amp; USAGE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01D2D"/>
                </a:solidFill>
                <a:latin typeface="Aptos Display"/>
              </a:defRPr>
            </a:pPr>
            <a:r>
              <a:t>What does cloud spending and usage look like?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91640"/>
            <a:ext cx="3520440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01_net_cos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64792"/>
            <a:ext cx="3374136" cy="209397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325112" y="1691640"/>
            <a:ext cx="3520440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02_usage_by_serv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8264" y="1764792"/>
            <a:ext cx="3374136" cy="209397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66928" y="4087368"/>
            <a:ext cx="3520440" cy="2057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03_anomaly_score_distribu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160520"/>
            <a:ext cx="3374136" cy="1911095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4325112" y="4087368"/>
            <a:ext cx="6400800" cy="2057400"/>
          </a:xfrm>
          <a:prstGeom prst="roundRect">
            <a:avLst/>
          </a:prstGeom>
          <a:solidFill>
            <a:srgbClr val="101D2D"/>
          </a:solidFill>
          <a:ln w="8890">
            <a:solidFill>
              <a:srgbClr val="101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26280" y="4251959"/>
            <a:ext cx="6035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2843D"/>
                </a:solidFill>
                <a:latin typeface="Aptos"/>
              </a:defRPr>
            </a:pPr>
            <a:r>
              <a:t>KEY EDA TAKEAWAY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4617720"/>
            <a:ext cx="6035040" cy="1362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ptos"/>
              </a:defRPr>
            </a:pPr>
            <a:r>
              <a:t>Most resources have relatively low daily cost, while a smaller high-cost tail can drive disproportionate spend. Usage varies by service, so optimization must be service-aware. 2,738 records (5%) are above the 95th-percentile anomaly threshold.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1755648"/>
            <a:ext cx="3200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30" b="1">
                <a:solidFill>
                  <a:srgbClr val="101D2D"/>
                </a:solidFill>
                <a:latin typeface="Aptos"/>
              </a:defRPr>
            </a:pPr>
            <a:r>
              <a:t>Net cost distribution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6552" y="1755648"/>
            <a:ext cx="3200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30" b="1">
                <a:solidFill>
                  <a:srgbClr val="101D2D"/>
                </a:solidFill>
                <a:latin typeface="Aptos"/>
              </a:defRPr>
            </a:pPr>
            <a:r>
              <a:t>Usage by service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151376"/>
            <a:ext cx="3200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30" b="1">
                <a:solidFill>
                  <a:srgbClr val="101D2D"/>
                </a:solidFill>
                <a:latin typeface="Aptos"/>
              </a:defRPr>
            </a:pPr>
            <a:r>
              <a:t>Anomaly score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519672"/>
            <a:ext cx="11155680" cy="9144"/>
          </a:xfrm>
          <a:prstGeom prst="rect">
            <a:avLst/>
          </a:prstGeom>
          <a:solidFill>
            <a:srgbClr val="E0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0352" y="655624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1">
                <a:solidFill>
                  <a:srgbClr val="657484"/>
                </a:solidFill>
                <a:latin typeface="Aptos"/>
              </a:defRPr>
            </a:pPr>
            <a:r>
              <a:t>EXPLORATORY DATA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537960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657484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1097280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09AA6"/>
                </a:solidFill>
                <a:latin typeface="Aptos"/>
              </a:defRPr>
            </a:pPr>
            <a:r>
              <a:rPr dirty="0"/>
              <a:t>0</a:t>
            </a:r>
            <a:r>
              <a:rPr lang="en-IN" dirty="0"/>
              <a:t>6</a:t>
            </a:r>
            <a:r>
              <a:rPr dirty="0"/>
              <a:t> • EDA — TREND &amp; OWNERSHIP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01D2D"/>
                </a:solidFill>
                <a:latin typeface="Aptos Display"/>
              </a:defRPr>
            </a:pPr>
            <a:r>
              <a:t>Is the cost problem concentrated in one part of the organization?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91640"/>
            <a:ext cx="3520440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04_monthly_net_cost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64792"/>
            <a:ext cx="3374136" cy="209397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325112" y="1691640"/>
            <a:ext cx="3520440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05_cost_by_business_un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8264" y="1764792"/>
            <a:ext cx="3374136" cy="209397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66928" y="4087368"/>
            <a:ext cx="3520440" cy="2057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06_cost_by_departm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160520"/>
            <a:ext cx="3374136" cy="1911095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4325112" y="4087368"/>
            <a:ext cx="6400800" cy="2057400"/>
          </a:xfrm>
          <a:prstGeom prst="roundRect">
            <a:avLst/>
          </a:prstGeom>
          <a:solidFill>
            <a:srgbClr val="101D2D"/>
          </a:solidFill>
          <a:ln w="8890">
            <a:solidFill>
              <a:srgbClr val="101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26280" y="4251959"/>
            <a:ext cx="6035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2843D"/>
                </a:solidFill>
                <a:latin typeface="Aptos"/>
              </a:defRPr>
            </a:pPr>
            <a:r>
              <a:t>KEY EDA TAKEAWAY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4617720"/>
            <a:ext cx="6035040" cy="1362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ptos"/>
              </a:defRPr>
            </a:pPr>
            <a:r>
              <a:t>Spend increased 38.5% from January to December. All five business units sit within a narrow spending band, so the increase is not explained by one department or BU.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1755648"/>
            <a:ext cx="3200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30" b="1">
                <a:solidFill>
                  <a:srgbClr val="101D2D"/>
                </a:solidFill>
                <a:latin typeface="Aptos"/>
              </a:defRPr>
            </a:pPr>
            <a:r>
              <a:t>Monthly net cost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6552" y="1755648"/>
            <a:ext cx="3200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30" b="1">
                <a:solidFill>
                  <a:srgbClr val="101D2D"/>
                </a:solidFill>
                <a:latin typeface="Aptos"/>
              </a:defRPr>
            </a:pPr>
            <a:r>
              <a:t>Cost by business unit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151376"/>
            <a:ext cx="3200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30" b="1">
                <a:solidFill>
                  <a:srgbClr val="101D2D"/>
                </a:solidFill>
                <a:latin typeface="Aptos"/>
              </a:defRPr>
            </a:pPr>
            <a:r>
              <a:t>Cost by department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519672"/>
            <a:ext cx="11155680" cy="9144"/>
          </a:xfrm>
          <a:prstGeom prst="rect">
            <a:avLst/>
          </a:prstGeom>
          <a:solidFill>
            <a:srgbClr val="E0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0352" y="655624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1">
                <a:solidFill>
                  <a:srgbClr val="657484"/>
                </a:solidFill>
                <a:latin typeface="Aptos"/>
              </a:defRPr>
            </a:pPr>
            <a:r>
              <a:t>EXPLORATORY DATA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537960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657484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1097280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09AA6"/>
                </a:solidFill>
                <a:latin typeface="Aptos"/>
              </a:defRPr>
            </a:pPr>
            <a:r>
              <a:rPr dirty="0"/>
              <a:t>0</a:t>
            </a:r>
            <a:r>
              <a:rPr lang="en-IN" dirty="0"/>
              <a:t>6</a:t>
            </a:r>
            <a:r>
              <a:rPr dirty="0"/>
              <a:t>• EDA — ENVIRONMENT &amp; EFFICIENCY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01D2D"/>
                </a:solidFill>
                <a:latin typeface="Aptos Display"/>
              </a:defRPr>
            </a:pPr>
            <a:r>
              <a:t>Where is spend most actionable?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91640"/>
            <a:ext cx="3520440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07_cost_by_provi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64792"/>
            <a:ext cx="3374136" cy="209397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325112" y="1691640"/>
            <a:ext cx="3520440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08_cost_by_environ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8264" y="1764792"/>
            <a:ext cx="3374136" cy="209397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66928" y="4087368"/>
            <a:ext cx="3520440" cy="2057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09_cost_efficiency_by_departm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160520"/>
            <a:ext cx="3374136" cy="1911095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4325112" y="4087368"/>
            <a:ext cx="6400800" cy="2057400"/>
          </a:xfrm>
          <a:prstGeom prst="roundRect">
            <a:avLst/>
          </a:prstGeom>
          <a:solidFill>
            <a:srgbClr val="101D2D"/>
          </a:solidFill>
          <a:ln w="8890">
            <a:solidFill>
              <a:srgbClr val="101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26280" y="4251959"/>
            <a:ext cx="6035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2843D"/>
                </a:solidFill>
                <a:latin typeface="Aptos"/>
              </a:defRPr>
            </a:pPr>
            <a:r>
              <a:t>KEY EDA TAKEAWAY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4617720"/>
            <a:ext cx="6035040" cy="1362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ptos"/>
              </a:defRPr>
            </a:pPr>
            <a:r>
              <a:t>Staging + Dev account for 22.2% of spend ($90,380). Department-level efficiency is comparatively narrow. Non-production is therefore a strong immediate optimization lever.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1755648"/>
            <a:ext cx="3200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30" b="1">
                <a:solidFill>
                  <a:srgbClr val="101D2D"/>
                </a:solidFill>
                <a:latin typeface="Aptos"/>
              </a:defRPr>
            </a:pPr>
            <a:r>
              <a:t>Cost by cloud provider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6552" y="1755648"/>
            <a:ext cx="3200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30" b="1">
                <a:solidFill>
                  <a:srgbClr val="101D2D"/>
                </a:solidFill>
                <a:latin typeface="Aptos"/>
              </a:defRPr>
            </a:pPr>
            <a:r>
              <a:t>Cost by environment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151376"/>
            <a:ext cx="3200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30" b="1">
                <a:solidFill>
                  <a:srgbClr val="101D2D"/>
                </a:solidFill>
                <a:latin typeface="Aptos"/>
              </a:defRPr>
            </a:pPr>
            <a:r>
              <a:t>Cost efficiency by department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519672"/>
            <a:ext cx="11155680" cy="9144"/>
          </a:xfrm>
          <a:prstGeom prst="rect">
            <a:avLst/>
          </a:prstGeom>
          <a:solidFill>
            <a:srgbClr val="E0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0352" y="655624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1">
                <a:solidFill>
                  <a:srgbClr val="657484"/>
                </a:solidFill>
                <a:latin typeface="Aptos"/>
              </a:defRPr>
            </a:pPr>
            <a:r>
              <a:t>EXPLORATORY DATA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537960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657484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1097280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09AA6"/>
                </a:solidFill>
                <a:latin typeface="Aptos"/>
              </a:defRPr>
            </a:pPr>
            <a:r>
              <a:rPr dirty="0"/>
              <a:t>0</a:t>
            </a:r>
            <a:r>
              <a:rPr lang="en-IN" dirty="0"/>
              <a:t>6</a:t>
            </a:r>
            <a:r>
              <a:rPr dirty="0"/>
              <a:t> • EDA — PRICING &amp; HOTSPOTS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01D2D"/>
                </a:solidFill>
                <a:latin typeface="Aptos Display"/>
              </a:defRPr>
            </a:pPr>
            <a:r>
              <a:t>Are we paying efficiently — and where are the hotspots?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91640"/>
            <a:ext cx="3520440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10_discount_by_provi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64792"/>
            <a:ext cx="3374136" cy="209397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325112" y="1691640"/>
            <a:ext cx="3520440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11_heatmap_bu_serv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8264" y="1764792"/>
            <a:ext cx="3374136" cy="209397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66928" y="4087368"/>
            <a:ext cx="3520440" cy="2057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12_heatmap_region_provid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160520"/>
            <a:ext cx="3374136" cy="1911095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4325112" y="4087368"/>
            <a:ext cx="6400800" cy="2057400"/>
          </a:xfrm>
          <a:prstGeom prst="roundRect">
            <a:avLst/>
          </a:prstGeom>
          <a:solidFill>
            <a:srgbClr val="101D2D"/>
          </a:solidFill>
          <a:ln w="8890">
            <a:solidFill>
              <a:srgbClr val="101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26280" y="4251959"/>
            <a:ext cx="6035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2843D"/>
                </a:solidFill>
                <a:latin typeface="Aptos"/>
              </a:defRPr>
            </a:pPr>
            <a:r>
              <a:t>KEY EDA TAKEAWAY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4617720"/>
            <a:ext cx="6035040" cy="1362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ptos"/>
              </a:defRPr>
            </a:pPr>
            <a:r>
              <a:t>Average commitment coverage is 54.1%, leaving 46.5% of spend exposed to on-demand pricing. Cross-dimensional heatmaps identify where spend is concentrated.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1755648"/>
            <a:ext cx="3200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30" b="1">
                <a:solidFill>
                  <a:srgbClr val="101D2D"/>
                </a:solidFill>
                <a:latin typeface="Aptos"/>
              </a:defRPr>
            </a:pPr>
            <a:r>
              <a:t>Discount utilization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6552" y="1755648"/>
            <a:ext cx="3200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30" b="1">
                <a:solidFill>
                  <a:srgbClr val="101D2D"/>
                </a:solidFill>
                <a:latin typeface="Aptos"/>
              </a:defRPr>
            </a:pPr>
            <a:r>
              <a:t>BU × Service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151376"/>
            <a:ext cx="3200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30" b="1">
                <a:solidFill>
                  <a:srgbClr val="101D2D"/>
                </a:solidFill>
                <a:latin typeface="Aptos"/>
              </a:defRPr>
            </a:pPr>
            <a:r>
              <a:t>Region × Provider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519672"/>
            <a:ext cx="11155680" cy="9144"/>
          </a:xfrm>
          <a:prstGeom prst="rect">
            <a:avLst/>
          </a:prstGeom>
          <a:solidFill>
            <a:srgbClr val="E0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0352" y="655624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1">
                <a:solidFill>
                  <a:srgbClr val="657484"/>
                </a:solidFill>
                <a:latin typeface="Aptos"/>
              </a:defRPr>
            </a:pPr>
            <a:r>
              <a:t>EXPLORATORY DATA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537960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657484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1097280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09AA6"/>
                </a:solidFill>
                <a:latin typeface="Aptos"/>
              </a:defRPr>
            </a:pPr>
            <a:r>
              <a:rPr dirty="0"/>
              <a:t>0</a:t>
            </a:r>
            <a:r>
              <a:rPr lang="en-IN" dirty="0"/>
              <a:t>6</a:t>
            </a:r>
            <a:r>
              <a:rPr dirty="0"/>
              <a:t> • EDA — WASTE &amp; FORECASTING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01D2D"/>
                </a:solidFill>
                <a:latin typeface="Aptos Display"/>
              </a:defRPr>
            </a:pPr>
            <a:r>
              <a:t>What else is driving avoidable cost?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91640"/>
            <a:ext cx="3520440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16_idle_by_depart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64792"/>
            <a:ext cx="3374136" cy="209397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325112" y="1691640"/>
            <a:ext cx="3520440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17_correlat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8264" y="1764792"/>
            <a:ext cx="3374136" cy="209397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66928" y="4087368"/>
            <a:ext cx="3520440" cy="2057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18_forecast_vs_actu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160520"/>
            <a:ext cx="3374136" cy="1911095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4325112" y="4087368"/>
            <a:ext cx="6400800" cy="2057400"/>
          </a:xfrm>
          <a:prstGeom prst="roundRect">
            <a:avLst/>
          </a:prstGeom>
          <a:solidFill>
            <a:srgbClr val="101D2D"/>
          </a:solidFill>
          <a:ln w="8890">
            <a:solidFill>
              <a:srgbClr val="101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26280" y="4251959"/>
            <a:ext cx="6035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2843D"/>
                </a:solidFill>
                <a:latin typeface="Aptos"/>
              </a:defRPr>
            </a:pPr>
            <a:r>
              <a:t>KEY EDA TAKEAWAY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4617720"/>
            <a:ext cx="6035040" cy="1362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ptos"/>
              </a:defRPr>
            </a:pPr>
            <a:r>
              <a:t>11.3% of resource-days meet the &gt;80% on-demand exposure proxy. The engineered waste metrics behave consistently with underlying cost variables, while 10.5% of records are forecast outliers.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1755648"/>
            <a:ext cx="3200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30" b="1">
                <a:solidFill>
                  <a:srgbClr val="101D2D"/>
                </a:solidFill>
                <a:latin typeface="Aptos"/>
              </a:defRPr>
            </a:pPr>
            <a:r>
              <a:t>Idle / high-exposure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6552" y="1755648"/>
            <a:ext cx="3200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30" b="1">
                <a:solidFill>
                  <a:srgbClr val="101D2D"/>
                </a:solidFill>
                <a:latin typeface="Aptos"/>
              </a:defRPr>
            </a:pPr>
            <a:r>
              <a:t>Correlation matrix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151376"/>
            <a:ext cx="3200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30" b="1">
                <a:solidFill>
                  <a:srgbClr val="101D2D"/>
                </a:solidFill>
                <a:latin typeface="Aptos"/>
              </a:defRPr>
            </a:pPr>
            <a:r>
              <a:t>Forecast vs actual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519672"/>
            <a:ext cx="11155680" cy="9144"/>
          </a:xfrm>
          <a:prstGeom prst="rect">
            <a:avLst/>
          </a:prstGeom>
          <a:solidFill>
            <a:srgbClr val="E0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0352" y="655624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1">
                <a:solidFill>
                  <a:srgbClr val="657484"/>
                </a:solidFill>
                <a:latin typeface="Aptos"/>
              </a:defRPr>
            </a:pPr>
            <a:r>
              <a:t>EXPLORATORY DATA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537960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657484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1097280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09AA6"/>
                </a:solidFill>
                <a:latin typeface="Aptos"/>
              </a:defRPr>
            </a:pPr>
            <a:r>
              <a:rPr dirty="0"/>
              <a:t>0</a:t>
            </a:r>
            <a:r>
              <a:rPr lang="en-IN" dirty="0"/>
              <a:t>7</a:t>
            </a:r>
            <a:r>
              <a:rPr dirty="0"/>
              <a:t> • KEY INSIGHTS &amp;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01D2D"/>
                </a:solidFill>
                <a:latin typeface="Aptos Display"/>
              </a:defRPr>
            </a:pPr>
            <a:r>
              <a:t>What the analysis says — and what we should do about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197864"/>
            <a:ext cx="10881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57484"/>
                </a:solidFill>
                <a:latin typeface="Aptos"/>
              </a:defRPr>
            </a:pPr>
            <a:r>
              <a:t>The strongest findings map directly to operational actions.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554480"/>
            <a:ext cx="10972800" cy="58521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664207"/>
            <a:ext cx="2240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01D2D"/>
                </a:solidFill>
                <a:latin typeface="Aptos"/>
              </a:defRPr>
            </a:pPr>
            <a:r>
              <a:t>38.5% spend growth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1664207"/>
            <a:ext cx="3337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30" b="0">
                <a:solidFill>
                  <a:srgbClr val="273443"/>
                </a:solidFill>
                <a:latin typeface="Aptos"/>
              </a:defRPr>
            </a:pPr>
            <a:r>
              <a:t>Investigate Q4 resource accumulation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1664207"/>
            <a:ext cx="4434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30" b="1">
                <a:solidFill>
                  <a:srgbClr val="009AA6"/>
                </a:solidFill>
                <a:latin typeface="Aptos"/>
              </a:defRPr>
            </a:pPr>
            <a:r>
              <a:t>Quarterly cleanup + lifecycle governance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267712"/>
            <a:ext cx="10972800" cy="58521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2377440"/>
            <a:ext cx="2240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01D2D"/>
                </a:solidFill>
                <a:latin typeface="Aptos"/>
              </a:defRPr>
            </a:pPr>
            <a:r>
              <a:t>22.2% non-prod spend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2377440"/>
            <a:ext cx="3337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30" b="0">
                <a:solidFill>
                  <a:srgbClr val="273443"/>
                </a:solidFill>
                <a:latin typeface="Aptos"/>
              </a:defRPr>
            </a:pPr>
            <a:r>
              <a:t>Reduce unnecessary runtime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2377440"/>
            <a:ext cx="4434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30" b="1">
                <a:solidFill>
                  <a:srgbClr val="009AA6"/>
                </a:solidFill>
                <a:latin typeface="Aptos"/>
              </a:defRPr>
            </a:pPr>
            <a:r>
              <a:t>Auto-stop Dev/Staging outside business hours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2980944"/>
            <a:ext cx="10972800" cy="58521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3090672"/>
            <a:ext cx="2240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01D2D"/>
                </a:solidFill>
                <a:latin typeface="Aptos"/>
              </a:defRPr>
            </a:pPr>
            <a:r>
              <a:t>54.1% commitment coverage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3090672"/>
            <a:ext cx="3337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30" b="0">
                <a:solidFill>
                  <a:srgbClr val="273443"/>
                </a:solidFill>
                <a:latin typeface="Aptos"/>
              </a:defRPr>
            </a:pPr>
            <a:r>
              <a:t>Reduce on-demand exposure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3090672"/>
            <a:ext cx="4434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30" b="1">
                <a:solidFill>
                  <a:srgbClr val="009AA6"/>
                </a:solidFill>
                <a:latin typeface="Aptos"/>
              </a:defRPr>
            </a:pPr>
            <a:r>
              <a:t>Centralize RI / Savings Plan purchasing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694176"/>
            <a:ext cx="10972800" cy="58521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3803904"/>
            <a:ext cx="2240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01D2D"/>
                </a:solidFill>
                <a:latin typeface="Aptos"/>
              </a:defRPr>
            </a:pPr>
            <a:r>
              <a:t>11.3% high-exposure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3803904"/>
            <a:ext cx="3337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30" b="0">
                <a:solidFill>
                  <a:srgbClr val="273443"/>
                </a:solidFill>
                <a:latin typeface="Aptos"/>
              </a:defRPr>
            </a:pPr>
            <a:r>
              <a:t>Detect inefficient resources earlier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3803904"/>
            <a:ext cx="4434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30" b="1">
                <a:solidFill>
                  <a:srgbClr val="009AA6"/>
                </a:solidFill>
                <a:latin typeface="Aptos"/>
              </a:defRPr>
            </a:pPr>
            <a:r>
              <a:t>Automated idle-resource alerting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4407408"/>
            <a:ext cx="10972800" cy="58521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4517136"/>
            <a:ext cx="2240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01D2D"/>
                </a:solidFill>
                <a:latin typeface="Aptos"/>
              </a:defRPr>
            </a:pPr>
            <a:r>
              <a:t>8.4% low SP + RI coverage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54680" y="4517136"/>
            <a:ext cx="3337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30" b="0">
                <a:solidFill>
                  <a:srgbClr val="273443"/>
                </a:solidFill>
                <a:latin typeface="Aptos"/>
              </a:defRPr>
            </a:pPr>
            <a:r>
              <a:t>Prioritize commitment candidates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4517136"/>
            <a:ext cx="4434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30" b="1">
                <a:solidFill>
                  <a:srgbClr val="009AA6"/>
                </a:solidFill>
                <a:latin typeface="Aptos"/>
              </a:defRPr>
            </a:pPr>
            <a:r>
              <a:t>90-day usage analysis → 1-year commitments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5120640"/>
            <a:ext cx="10972800" cy="58521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" y="5230368"/>
            <a:ext cx="2240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01D2D"/>
                </a:solidFill>
                <a:latin typeface="Aptos"/>
              </a:defRPr>
            </a:pPr>
            <a:r>
              <a:t>10.5% forecast outliers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54680" y="5230368"/>
            <a:ext cx="3337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30" b="0">
                <a:solidFill>
                  <a:srgbClr val="273443"/>
                </a:solidFill>
                <a:latin typeface="Aptos"/>
              </a:defRPr>
            </a:pPr>
            <a:r>
              <a:t>Improve planning accuracy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5230368"/>
            <a:ext cx="4434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30" b="1">
                <a:solidFill>
                  <a:srgbClr val="009AA6"/>
                </a:solidFill>
                <a:latin typeface="Aptos"/>
              </a:defRPr>
            </a:pPr>
            <a:r>
              <a:t>Rebuild forecasting on historical trends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5925312"/>
            <a:ext cx="10972800" cy="384048"/>
          </a:xfrm>
          <a:prstGeom prst="roundRect">
            <a:avLst/>
          </a:prstGeom>
          <a:solidFill>
            <a:srgbClr val="101D2D"/>
          </a:solidFill>
          <a:ln w="8890">
            <a:solidFill>
              <a:srgbClr val="101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960" y="6016752"/>
            <a:ext cx="10515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8 recommendations identified  •  $123K–$188K annual savings opportunity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6519672"/>
            <a:ext cx="11155680" cy="9144"/>
          </a:xfrm>
          <a:prstGeom prst="rect">
            <a:avLst/>
          </a:prstGeom>
          <a:solidFill>
            <a:srgbClr val="E0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30352" y="655624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1">
                <a:solidFill>
                  <a:srgbClr val="657484"/>
                </a:solidFill>
                <a:latin typeface="Aptos"/>
              </a:defRPr>
            </a:pPr>
            <a:r>
              <a:t>INSIGHTS &amp; RECOMMENDATIONS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537960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657484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01D2D"/>
                </a:solidFill>
                <a:latin typeface="Aptos Display"/>
              </a:defRPr>
            </a:pPr>
            <a:r>
              <a:t>Six months: quick wins → governance → structural 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197864"/>
            <a:ext cx="10881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57484"/>
                </a:solidFill>
                <a:latin typeface="Aptos"/>
              </a:defRPr>
            </a:pPr>
            <a:r>
              <a:t>The roadmap sequences low-risk savings actions before longer-term commitments.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3474720" cy="26060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09AA6"/>
                </a:solidFill>
                <a:latin typeface="Aptos"/>
              </a:defRPr>
            </a:pPr>
            <a:r>
              <a:t>MONTH 1–2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76272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01D2D"/>
                </a:solidFill>
                <a:latin typeface="Aptos Display"/>
              </a:defRPr>
            </a:pPr>
            <a:r>
              <a:t>QUICK WINS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70048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>
                <a:solidFill>
                  <a:srgbClr val="273443"/>
                </a:solidFill>
                <a:latin typeface="Aptos"/>
              </a:defRPr>
            </a:pPr>
            <a:r>
              <a:t>Audit unused Q4 resources</a:t>
            </a:r>
          </a:p>
          <a:p>
            <a:pPr>
              <a:spcAft>
                <a:spcPts val="700"/>
              </a:spcAft>
              <a:defRPr sz="1000">
                <a:solidFill>
                  <a:srgbClr val="273443"/>
                </a:solidFill>
                <a:latin typeface="Aptos"/>
              </a:defRPr>
            </a:pPr>
            <a:r>
              <a:t>Auto-stop staging/dev 7 PM → 8 AM</a:t>
            </a:r>
          </a:p>
          <a:p>
            <a:pPr>
              <a:spcAft>
                <a:spcPts val="700"/>
              </a:spcAft>
              <a:defRPr sz="1000">
                <a:solidFill>
                  <a:srgbClr val="273443"/>
                </a:solidFill>
                <a:latin typeface="Aptos"/>
              </a:defRPr>
            </a:pPr>
            <a:r>
              <a:t>Deploy provider-native idle alerts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6552" y="1600200"/>
            <a:ext cx="3474720" cy="26060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45152" y="182880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2843D"/>
                </a:solidFill>
                <a:latin typeface="Aptos"/>
              </a:defRPr>
            </a:pPr>
            <a:r>
              <a:t>MONTH 3–4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2176272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01D2D"/>
                </a:solidFill>
                <a:latin typeface="Aptos Display"/>
              </a:defRPr>
            </a:pPr>
            <a:r>
              <a:t>STRATEGIC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2670048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>
                <a:solidFill>
                  <a:srgbClr val="273443"/>
                </a:solidFill>
                <a:latin typeface="Aptos"/>
              </a:defRPr>
            </a:pPr>
            <a:r>
              <a:t>Use 90-day usage for RIs/SPs</a:t>
            </a:r>
          </a:p>
          <a:p>
            <a:pPr>
              <a:spcAft>
                <a:spcPts val="700"/>
              </a:spcAft>
              <a:defRPr sz="1000">
                <a:solidFill>
                  <a:srgbClr val="273443"/>
                </a:solidFill>
                <a:latin typeface="Aptos"/>
              </a:defRPr>
            </a:pPr>
            <a:r>
              <a:t>Stand up FinOps team</a:t>
            </a:r>
          </a:p>
          <a:p>
            <a:pPr>
              <a:spcAft>
                <a:spcPts val="700"/>
              </a:spcAft>
              <a:defRPr sz="1000">
                <a:solidFill>
                  <a:srgbClr val="273443"/>
                </a:solidFill>
                <a:latin typeface="Aptos"/>
              </a:defRPr>
            </a:pPr>
            <a:r>
              <a:t>Rebuild forecast models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38744" y="1600200"/>
            <a:ext cx="3474720" cy="26060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67344" y="182880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09AA6"/>
                </a:solidFill>
                <a:latin typeface="Aptos"/>
              </a:defRPr>
            </a:pPr>
            <a:r>
              <a:t>MONTH 5–6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7344" y="2176272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01D2D"/>
                </a:solidFill>
                <a:latin typeface="Aptos Display"/>
              </a:defRPr>
            </a:pPr>
            <a:r>
              <a:t>LONG-TERM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67344" y="2670048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>
                <a:solidFill>
                  <a:srgbClr val="273443"/>
                </a:solidFill>
                <a:latin typeface="Aptos"/>
              </a:defRPr>
            </a:pPr>
            <a:r>
              <a:t>Pilot spot instances</a:t>
            </a:r>
          </a:p>
          <a:p>
            <a:pPr>
              <a:spcAft>
                <a:spcPts val="700"/>
              </a:spcAft>
              <a:defRPr sz="1000">
                <a:solidFill>
                  <a:srgbClr val="273443"/>
                </a:solidFill>
                <a:latin typeface="Aptos"/>
              </a:defRPr>
            </a:pPr>
            <a:r>
              <a:t>Cross-provider TCO analysis</a:t>
            </a:r>
          </a:p>
          <a:p>
            <a:pPr>
              <a:spcAft>
                <a:spcPts val="700"/>
              </a:spcAft>
              <a:defRPr sz="1000">
                <a:solidFill>
                  <a:srgbClr val="273443"/>
                </a:solidFill>
                <a:latin typeface="Aptos"/>
              </a:defRPr>
            </a:pPr>
            <a:r>
              <a:t>Workload placement guidelines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526280"/>
            <a:ext cx="10972800" cy="1188720"/>
          </a:xfrm>
          <a:prstGeom prst="roundRect">
            <a:avLst/>
          </a:prstGeom>
          <a:solidFill>
            <a:srgbClr val="101D2D"/>
          </a:solidFill>
          <a:ln w="8890">
            <a:solidFill>
              <a:srgbClr val="101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473659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2843D"/>
                </a:solidFill>
                <a:latin typeface="Aptos"/>
              </a:defRPr>
            </a:pPr>
            <a:r>
              <a:t>6-MONTH TARGET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4709160"/>
            <a:ext cx="19202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$285K–$330K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60" y="4709160"/>
            <a:ext cx="1828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B8CAD8"/>
                </a:solidFill>
                <a:latin typeface="Aptos"/>
              </a:defRPr>
            </a:pPr>
            <a:r>
              <a:t>annual net cost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709160"/>
            <a:ext cx="1828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70–75%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4709160"/>
            <a:ext cx="1371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B8CAD8"/>
                </a:solidFill>
                <a:latin typeface="Aptos"/>
              </a:defRPr>
            </a:pPr>
            <a:r>
              <a:t>commitment coverage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800" y="4709160"/>
            <a:ext cx="1325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4–6%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4709160"/>
            <a:ext cx="2743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B8CAD8"/>
                </a:solidFill>
                <a:latin typeface="Aptos"/>
              </a:defRPr>
            </a:pPr>
            <a:r>
              <a:t>idle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349240"/>
            <a:ext cx="10332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Identified annual savings opportunity: $123K–$188K • 19–30% six-month cost reduction target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6519672"/>
            <a:ext cx="11155680" cy="9144"/>
          </a:xfrm>
          <a:prstGeom prst="rect">
            <a:avLst/>
          </a:prstGeom>
          <a:solidFill>
            <a:srgbClr val="E0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30352" y="655624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1">
                <a:solidFill>
                  <a:srgbClr val="657484"/>
                </a:solidFill>
                <a:latin typeface="Aptos"/>
              </a:defRPr>
            </a:pPr>
            <a:r>
              <a:t>ROADMAP &amp; IMPACT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0" y="6537960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00">
                <a:solidFill>
                  <a:srgbClr val="919DB5"/>
                </a:solidFill>
              </a:rPr>
              <a:t>16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0D22527-1A92-8BF4-953A-9A0A703FF042}"/>
              </a:ext>
            </a:extLst>
          </p:cNvPr>
          <p:cNvSpPr txBox="1"/>
          <p:nvPr/>
        </p:nvSpPr>
        <p:spPr>
          <a:xfrm>
            <a:off x="566928" y="320040"/>
            <a:ext cx="1097280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09AA6"/>
                </a:solidFill>
                <a:latin typeface="Aptos"/>
              </a:defRPr>
            </a:pPr>
            <a:r>
              <a:rPr dirty="0"/>
              <a:t>0</a:t>
            </a:r>
            <a:r>
              <a:rPr lang="en-IN" dirty="0"/>
              <a:t>8</a:t>
            </a:r>
            <a:r>
              <a:rPr dirty="0"/>
              <a:t> • </a:t>
            </a:r>
            <a:r>
              <a:rPr lang="en-IN" dirty="0"/>
              <a:t>ROADMAP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9AA6"/>
          </a:solidFill>
          <a:ln>
            <a:solidFill>
              <a:srgbClr val="009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500" b="1" i="0">
                <a:solidFill>
                  <a:srgbClr val="1B253A"/>
                </a:solidFill>
                <a:latin typeface="Aptos"/>
              </a:rPr>
              <a:t>Where the organization stands today vs. the 6-month target.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197864"/>
            <a:ext cx="10881360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526691"/>
                </a:solidFill>
                <a:latin typeface="Aptos"/>
              </a:rPr>
              <a:t>The target state translates the recommendations into measurable operating outcomes.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19072"/>
            <a:ext cx="2423160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526691"/>
                </a:solidFill>
                <a:latin typeface="Aptos"/>
              </a:rPr>
              <a:t>METRIC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55264" y="1719072"/>
            <a:ext cx="1280160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526691"/>
                </a:solidFill>
                <a:latin typeface="Aptos"/>
              </a:rPr>
              <a:t>CURRENT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49240" y="1719072"/>
            <a:ext cx="1828800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526691"/>
                </a:solidFill>
                <a:latin typeface="Aptos"/>
              </a:rPr>
              <a:t>TARGET (6 MO)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103120"/>
            <a:ext cx="6903720" cy="13716"/>
          </a:xfrm>
          <a:prstGeom prst="rect">
            <a:avLst/>
          </a:prstGeom>
          <a:solidFill>
            <a:srgbClr val="DCE2ED"/>
          </a:solidFill>
          <a:ln>
            <a:solidFill>
              <a:srgbClr val="DC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2103120"/>
            <a:ext cx="2514600" cy="5120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B253A"/>
                </a:solidFill>
                <a:latin typeface="Aptos"/>
              </a:rPr>
              <a:t>Annual Net Cost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55264" y="2103120"/>
            <a:ext cx="1508760" cy="5120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526691"/>
                </a:solidFill>
                <a:latin typeface="Aptos"/>
              </a:rPr>
              <a:t>$407,980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9240" y="2103120"/>
            <a:ext cx="1965960" cy="5120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5B52FF"/>
                </a:solidFill>
                <a:latin typeface="Aptos"/>
              </a:rPr>
              <a:t>$285,000–$330,000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615184"/>
            <a:ext cx="6903720" cy="512064"/>
          </a:xfrm>
          <a:prstGeom prst="rect">
            <a:avLst/>
          </a:prstGeom>
          <a:solidFill>
            <a:srgbClr val="EEF2FA"/>
          </a:solidFill>
          <a:ln>
            <a:solidFill>
              <a:srgbClr val="EE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2615184"/>
            <a:ext cx="2514600" cy="5120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B253A"/>
                </a:solidFill>
                <a:latin typeface="Aptos"/>
              </a:rPr>
              <a:t>Non-Prod Spend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55264" y="2615184"/>
            <a:ext cx="1508760" cy="5120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526691"/>
                </a:solidFill>
                <a:latin typeface="Aptos"/>
              </a:rPr>
              <a:t>22.2%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615184"/>
            <a:ext cx="1965960" cy="5120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5B52FF"/>
                </a:solidFill>
                <a:latin typeface="Aptos"/>
              </a:rPr>
              <a:t>10–12%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127248"/>
            <a:ext cx="2514600" cy="5120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B253A"/>
                </a:solidFill>
                <a:latin typeface="Aptos"/>
              </a:rPr>
              <a:t>Commitment Coverage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55264" y="3127248"/>
            <a:ext cx="1508760" cy="5120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526691"/>
                </a:solidFill>
                <a:latin typeface="Aptos"/>
              </a:rPr>
              <a:t>54.1%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9240" y="3127248"/>
            <a:ext cx="1965960" cy="5120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5B52FF"/>
                </a:solidFill>
                <a:latin typeface="Aptos"/>
              </a:rPr>
              <a:t>70–75%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3639312"/>
            <a:ext cx="6903720" cy="512064"/>
          </a:xfrm>
          <a:prstGeom prst="rect">
            <a:avLst/>
          </a:prstGeom>
          <a:solidFill>
            <a:srgbClr val="EEF2FA"/>
          </a:solidFill>
          <a:ln>
            <a:solidFill>
              <a:srgbClr val="EE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6928" y="3639312"/>
            <a:ext cx="2514600" cy="5120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B253A"/>
                </a:solidFill>
                <a:latin typeface="Aptos"/>
              </a:rPr>
              <a:t>Idle Resource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55264" y="3639312"/>
            <a:ext cx="1508760" cy="5120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526691"/>
                </a:solidFill>
                <a:latin typeface="Aptos"/>
              </a:rPr>
              <a:t>11.3%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3639312"/>
            <a:ext cx="1965960" cy="5120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5B52FF"/>
                </a:solidFill>
                <a:latin typeface="Aptos"/>
              </a:rPr>
              <a:t>4–6%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4151376"/>
            <a:ext cx="2514600" cy="5120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B253A"/>
                </a:solidFill>
                <a:latin typeface="Aptos"/>
              </a:rPr>
              <a:t>Cost Efficiency Ratio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55264" y="4151376"/>
            <a:ext cx="1508760" cy="5120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526691"/>
                </a:solidFill>
                <a:latin typeface="Aptos"/>
              </a:rPr>
              <a:t>0.775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9240" y="4151376"/>
            <a:ext cx="1965960" cy="5120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5B52FF"/>
                </a:solidFill>
                <a:latin typeface="Aptos"/>
              </a:rPr>
              <a:t>0.65–0.70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4663440"/>
            <a:ext cx="6903720" cy="512064"/>
          </a:xfrm>
          <a:prstGeom prst="rect">
            <a:avLst/>
          </a:prstGeom>
          <a:solidFill>
            <a:srgbClr val="EEF2FA"/>
          </a:solidFill>
          <a:ln>
            <a:solidFill>
              <a:srgbClr val="EE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6928" y="4663440"/>
            <a:ext cx="2514600" cy="5120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B253A"/>
                </a:solidFill>
                <a:latin typeface="Aptos"/>
              </a:rPr>
              <a:t>Spot Instance Adoption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55264" y="4663440"/>
            <a:ext cx="1508760" cy="5120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526691"/>
                </a:solidFill>
                <a:latin typeface="Aptos"/>
              </a:rPr>
              <a:t>~25%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9240" y="4663440"/>
            <a:ext cx="1965960" cy="5120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5B52FF"/>
                </a:solidFill>
                <a:latin typeface="Aptos"/>
              </a:rPr>
              <a:t>40–50%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26679" y="1719072"/>
            <a:ext cx="3886200" cy="3767328"/>
          </a:xfrm>
          <a:prstGeom prst="roundRect">
            <a:avLst/>
          </a:prstGeom>
          <a:solidFill>
            <a:srgbClr val="101D2D"/>
          </a:solidFill>
          <a:ln>
            <a:solidFill>
              <a:srgbClr val="101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001000" y="2176272"/>
            <a:ext cx="3337560" cy="6400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3100" b="1" i="0">
                <a:solidFill>
                  <a:srgbClr val="F23E91"/>
                </a:solidFill>
                <a:latin typeface="Aptos"/>
              </a:rPr>
              <a:t>19–30%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19" y="3017520"/>
            <a:ext cx="324612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BEC9DE"/>
                </a:solidFill>
                <a:latin typeface="Aptos"/>
              </a:rPr>
              <a:t>TOTAL COST REDUCTION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19" y="3291839"/>
            <a:ext cx="324612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BEC9DE"/>
                </a:solidFill>
                <a:latin typeface="Aptos"/>
              </a:rPr>
              <a:t>ACHIEVABLE IN 6 MONTHS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95359" y="3639312"/>
            <a:ext cx="2148840" cy="10972"/>
          </a:xfrm>
          <a:prstGeom prst="rect">
            <a:avLst/>
          </a:prstGeom>
          <a:solidFill>
            <a:srgbClr val="32435B"/>
          </a:solidFill>
          <a:ln>
            <a:solidFill>
              <a:srgbClr val="324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046719" y="4050791"/>
            <a:ext cx="324612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0" i="1">
                <a:solidFill>
                  <a:srgbClr val="CDD6E7"/>
                </a:solidFill>
                <a:latin typeface="Aptos"/>
              </a:rPr>
              <a:t>$123,000–$188,000 identified in total annual savings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19" y="4352544"/>
            <a:ext cx="324612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0" i="1">
                <a:solidFill>
                  <a:srgbClr val="CDD6E7"/>
                </a:solidFill>
                <a:latin typeface="Aptos"/>
              </a:rPr>
              <a:t>opportunity across all 8 recommendations.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5184648"/>
            <a:ext cx="146304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526691"/>
                </a:solidFill>
                <a:latin typeface="Aptos"/>
              </a:rPr>
              <a:t>TARGET STATE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5449824"/>
            <a:ext cx="690372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1B253A"/>
                </a:solidFill>
                <a:latin typeface="Aptos"/>
              </a:rPr>
              <a:t>Lower cost  •  higher commitment coverage  •  less idle capacity  •  greater spot adoption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6519672"/>
            <a:ext cx="11155680" cy="9144"/>
          </a:xfrm>
          <a:prstGeom prst="rect">
            <a:avLst/>
          </a:prstGeom>
          <a:solidFill>
            <a:srgbClr val="DCE2ED"/>
          </a:solidFill>
          <a:ln>
            <a:solidFill>
              <a:srgbClr val="DC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30352" y="6556248"/>
            <a:ext cx="4572000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919DB5"/>
                </a:solidFill>
                <a:latin typeface="Aptos"/>
              </a:rPr>
              <a:t>CLOUD COST OPTIMIZATION  |  FY2023 ANALYSIS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81360" y="6537960"/>
            <a:ext cx="64008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919DB5"/>
                </a:solidFill>
                <a:latin typeface="Aptos"/>
              </a:rPr>
              <a:t>15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06EAA23-0187-2A7A-B9D9-E8D3FEB40DF5}"/>
              </a:ext>
            </a:extLst>
          </p:cNvPr>
          <p:cNvSpPr txBox="1"/>
          <p:nvPr/>
        </p:nvSpPr>
        <p:spPr>
          <a:xfrm>
            <a:off x="566928" y="320040"/>
            <a:ext cx="1097280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09AA6"/>
                </a:solidFill>
                <a:latin typeface="Aptos"/>
              </a:defRPr>
            </a:pPr>
            <a:r>
              <a:rPr dirty="0"/>
              <a:t>0</a:t>
            </a:r>
            <a:r>
              <a:rPr lang="en-IN" dirty="0"/>
              <a:t>9</a:t>
            </a:r>
            <a:r>
              <a:rPr dirty="0"/>
              <a:t>• </a:t>
            </a:r>
            <a:r>
              <a:rPr lang="en-IN" dirty="0"/>
              <a:t>PROJECTED IMPACT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4008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101D2D"/>
                </a:solidFill>
                <a:latin typeface="Aptos Display"/>
              </a:defRPr>
            </a:pPr>
            <a:r>
              <a:t>Executive dashboard — from analysis to self-service decision making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161288"/>
            <a:ext cx="10881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57484"/>
                </a:solidFill>
                <a:latin typeface="Aptos"/>
              </a:defRPr>
            </a:pPr>
            <a:r>
              <a:t>Built with Streamlit + Plotly; designed for finance and engineering leaders.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7086600" cy="4434840"/>
          </a:xfrm>
          <a:prstGeom prst="roundRect">
            <a:avLst/>
          </a:prstGeom>
          <a:solidFill>
            <a:srgbClr val="101D2D"/>
          </a:solidFill>
          <a:ln w="8890">
            <a:solidFill>
              <a:srgbClr val="101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810512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ptos"/>
              </a:defRPr>
            </a:pPr>
            <a:r>
              <a:t>☁ Cloud Cost Optimizer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39696"/>
            <a:ext cx="5303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B5C7D5"/>
                </a:solidFill>
                <a:latin typeface="Aptos"/>
              </a:defRPr>
            </a:pPr>
            <a:r>
              <a:t>Interactive 2023 cloud cost analysis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" y="2514600"/>
            <a:ext cx="1481328" cy="713232"/>
          </a:xfrm>
          <a:prstGeom prst="roundRect">
            <a:avLst/>
          </a:prstGeom>
          <a:solidFill>
            <a:srgbClr val="182B3F"/>
          </a:solidFill>
          <a:ln w="8890">
            <a:solidFill>
              <a:srgbClr val="374C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642616"/>
            <a:ext cx="12618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ptos"/>
              </a:defRPr>
            </a:pPr>
            <a:r>
              <a:t>$407.9K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16936"/>
            <a:ext cx="126187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AFC1CF"/>
                </a:solidFill>
                <a:latin typeface="Aptos"/>
              </a:defRPr>
            </a:pPr>
            <a:r>
              <a:t>Total Spend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68880" y="2514600"/>
            <a:ext cx="1481328" cy="713232"/>
          </a:xfrm>
          <a:prstGeom prst="roundRect">
            <a:avLst/>
          </a:prstGeom>
          <a:solidFill>
            <a:srgbClr val="182B3F"/>
          </a:solidFill>
          <a:ln w="8890">
            <a:solidFill>
              <a:srgbClr val="374C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578608" y="2642616"/>
            <a:ext cx="12618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ptos"/>
              </a:defRPr>
            </a:pPr>
            <a:r>
              <a:t>38.5%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78608" y="2916936"/>
            <a:ext cx="126187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AFC1CF"/>
                </a:solidFill>
                <a:latin typeface="Aptos"/>
              </a:defRPr>
            </a:pPr>
            <a:r>
              <a:t>Growth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33088" y="2514600"/>
            <a:ext cx="1481328" cy="713232"/>
          </a:xfrm>
          <a:prstGeom prst="roundRect">
            <a:avLst/>
          </a:prstGeom>
          <a:solidFill>
            <a:srgbClr val="182B3F"/>
          </a:solidFill>
          <a:ln w="8890">
            <a:solidFill>
              <a:srgbClr val="374C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42816" y="2642616"/>
            <a:ext cx="12618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ptos"/>
              </a:defRPr>
            </a:pPr>
            <a:r>
              <a:t>11.3%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42816" y="2916936"/>
            <a:ext cx="126187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AFC1CF"/>
                </a:solidFill>
                <a:latin typeface="Aptos"/>
              </a:defRPr>
            </a:pPr>
            <a:r>
              <a:t>Idle / Exposure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97296" y="2514600"/>
            <a:ext cx="1481328" cy="713232"/>
          </a:xfrm>
          <a:prstGeom prst="roundRect">
            <a:avLst/>
          </a:prstGeom>
          <a:solidFill>
            <a:srgbClr val="182B3F"/>
          </a:solidFill>
          <a:ln w="8890">
            <a:solidFill>
              <a:srgbClr val="374C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07024" y="2642616"/>
            <a:ext cx="12618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ptos"/>
              </a:defRPr>
            </a:pPr>
            <a:r>
              <a:t>54.1%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07024" y="2916936"/>
            <a:ext cx="126187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AFC1CF"/>
                </a:solidFill>
                <a:latin typeface="Aptos"/>
              </a:defRPr>
            </a:pPr>
            <a:r>
              <a:t>Commitment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" y="3493008"/>
            <a:ext cx="3886200" cy="1417320"/>
          </a:xfrm>
          <a:prstGeom prst="roundRect">
            <a:avLst/>
          </a:prstGeom>
          <a:solidFill>
            <a:srgbClr val="182B3F"/>
          </a:solidFill>
          <a:ln w="8890">
            <a:solidFill>
              <a:srgbClr val="374C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87552" y="3675887"/>
            <a:ext cx="3474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C6D4E0"/>
                </a:solidFill>
                <a:latin typeface="Aptos"/>
              </a:defRPr>
            </a:pPr>
            <a:r>
              <a:t>Monthly Cost Trend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87552" y="4425696"/>
            <a:ext cx="256032" cy="164592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426464" y="4334255"/>
            <a:ext cx="256032" cy="256032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865376" y="4370831"/>
            <a:ext cx="256032" cy="219456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304288" y="4242816"/>
            <a:ext cx="256032" cy="347472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743200" y="4087368"/>
            <a:ext cx="256032" cy="502920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182112" y="3931920"/>
            <a:ext cx="256032" cy="658368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621024" y="4023359"/>
            <a:ext cx="256032" cy="566928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4892040" y="3493008"/>
            <a:ext cx="2240280" cy="1417320"/>
          </a:xfrm>
          <a:prstGeom prst="roundRect">
            <a:avLst/>
          </a:prstGeom>
          <a:solidFill>
            <a:srgbClr val="182B3F"/>
          </a:solidFill>
          <a:ln w="8890">
            <a:solidFill>
              <a:srgbClr val="374C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74920" y="3675887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C6D4E0"/>
                </a:solidFill>
                <a:latin typeface="Aptos"/>
              </a:defRPr>
            </a:pPr>
            <a:r>
              <a:t>Top Waste Projects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74920" y="4041648"/>
            <a:ext cx="173736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AFC1CF"/>
                </a:solidFill>
                <a:latin typeface="Aptos"/>
              </a:defRPr>
            </a:pPr>
            <a:r>
              <a:t>Project 1   $$$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74920" y="4288536"/>
            <a:ext cx="173736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AFC1CF"/>
                </a:solidFill>
                <a:latin typeface="Aptos"/>
              </a:defRPr>
            </a:pPr>
            <a:r>
              <a:t>Project 2   $$$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74920" y="4535424"/>
            <a:ext cx="173736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AFC1CF"/>
                </a:solidFill>
                <a:latin typeface="Aptos"/>
              </a:defRPr>
            </a:pPr>
            <a:r>
              <a:t>Project 3   $$$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321808"/>
            <a:ext cx="6309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AABECD"/>
                </a:solidFill>
                <a:latin typeface="Aptos"/>
              </a:defRPr>
            </a:pPr>
            <a:r>
              <a:t>Filters: Date • Provider • BU • Department • Environment • Region • Service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909560" y="1600200"/>
            <a:ext cx="3429000" cy="4434840"/>
          </a:xfrm>
          <a:prstGeom prst="roundRect">
            <a:avLst/>
          </a:prstGeom>
          <a:solidFill>
            <a:srgbClr val="F6F8FA"/>
          </a:solidFill>
          <a:ln w="8890"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183879" y="1856231"/>
            <a:ext cx="2834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9AA6"/>
                </a:solidFill>
                <a:latin typeface="Aptos"/>
              </a:defRPr>
            </a:pPr>
            <a:r>
              <a:t>DASHBOARD CAPABILITIES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83879" y="2267712"/>
            <a:ext cx="2743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50">
                <a:solidFill>
                  <a:srgbClr val="101D2D"/>
                </a:solidFill>
                <a:latin typeface="Aptos"/>
              </a:defRPr>
            </a:pPr>
            <a:r>
              <a:t>KPI cards: Total Spend, Avg Daily Cost, Discount Rate, Idle %</a:t>
            </a:r>
          </a:p>
          <a:p>
            <a:pPr>
              <a:spcAft>
                <a:spcPts val="700"/>
              </a:spcAft>
              <a:defRPr sz="1050">
                <a:solidFill>
                  <a:srgbClr val="101D2D"/>
                </a:solidFill>
                <a:latin typeface="Aptos"/>
              </a:defRPr>
            </a:pPr>
            <a:r>
              <a:t>Interactive filters across 7 dimensions</a:t>
            </a:r>
          </a:p>
          <a:p>
            <a:pPr>
              <a:spcAft>
                <a:spcPts val="700"/>
              </a:spcAft>
              <a:defRPr sz="1050">
                <a:solidFill>
                  <a:srgbClr val="101D2D"/>
                </a:solidFill>
                <a:latin typeface="Aptos"/>
              </a:defRPr>
            </a:pPr>
            <a:r>
              <a:t>Monthly cost trends and provider / department comparisons</a:t>
            </a:r>
          </a:p>
          <a:p>
            <a:pPr>
              <a:spcAft>
                <a:spcPts val="700"/>
              </a:spcAft>
              <a:defRPr sz="1050">
                <a:solidFill>
                  <a:srgbClr val="101D2D"/>
                </a:solidFill>
                <a:latin typeface="Aptos"/>
              </a:defRPr>
            </a:pPr>
            <a:r>
              <a:t>Top-wasteful-project table &amp; cost-efficiency leaderboard</a:t>
            </a:r>
          </a:p>
          <a:p>
            <a:pPr>
              <a:spcAft>
                <a:spcPts val="700"/>
              </a:spcAft>
              <a:defRPr sz="1050">
                <a:solidFill>
                  <a:srgbClr val="101D2D"/>
                </a:solidFill>
                <a:latin typeface="Aptos"/>
              </a:defRPr>
            </a:pPr>
            <a:r>
              <a:t>Anomaly detection view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83879" y="4224528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2843D"/>
                </a:solidFill>
                <a:latin typeface="Aptos"/>
              </a:defRPr>
            </a:pPr>
            <a:r>
              <a:t>GITHUB REPOSITORY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83879" y="4572000"/>
            <a:ext cx="27432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01D2D"/>
                </a:solidFill>
                <a:latin typeface="Aptos"/>
              </a:defRPr>
            </a:pPr>
            <a:r>
              <a:t>Source code</a:t>
            </a:r>
            <a:br/>
            <a:r>
              <a:t>EDA • preprocessing • dashboard • reports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83879" y="5440680"/>
            <a:ext cx="2743200" cy="4847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50" b="0">
                <a:solidFill>
                  <a:srgbClr val="657484"/>
                </a:solidFill>
                <a:latin typeface="Aptos"/>
              </a:defRPr>
            </a:pPr>
            <a:r>
              <a:rPr dirty="0"/>
              <a:t>Repository link: </a:t>
            </a:r>
            <a:r>
              <a:rPr lang="en-IN" dirty="0"/>
              <a:t>https://github.com/Proms32/Accenture-capstone-project</a:t>
            </a:r>
            <a:endParaRPr dirty="0"/>
          </a:p>
        </p:txBody>
      </p:sp>
      <p:sp>
        <p:nvSpPr>
          <p:cNvPr id="43" name="Rectangle 42"/>
          <p:cNvSpPr/>
          <p:nvPr/>
        </p:nvSpPr>
        <p:spPr>
          <a:xfrm>
            <a:off x="502920" y="6519672"/>
            <a:ext cx="11155680" cy="9144"/>
          </a:xfrm>
          <a:prstGeom prst="rect">
            <a:avLst/>
          </a:prstGeom>
          <a:solidFill>
            <a:srgbClr val="E0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30352" y="655624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1">
                <a:solidFill>
                  <a:srgbClr val="657484"/>
                </a:solidFill>
                <a:latin typeface="Aptos"/>
              </a:defRPr>
            </a:pPr>
            <a:r>
              <a:t>PROJECT DEMO &amp; GITHUB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881360" y="6537960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00">
                <a:solidFill>
                  <a:srgbClr val="919DB5"/>
                </a:solidFill>
              </a:rPr>
              <a:t>17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30F5A81-8555-7C40-B8AD-8863FE733F16}"/>
              </a:ext>
            </a:extLst>
          </p:cNvPr>
          <p:cNvSpPr txBox="1"/>
          <p:nvPr/>
        </p:nvSpPr>
        <p:spPr>
          <a:xfrm>
            <a:off x="566928" y="320040"/>
            <a:ext cx="1097280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09AA6"/>
                </a:solidFill>
                <a:latin typeface="Aptos"/>
              </a:defRPr>
            </a:pPr>
            <a:r>
              <a:rPr lang="en-IN" dirty="0"/>
              <a:t>10</a:t>
            </a:r>
            <a:r>
              <a:rPr dirty="0"/>
              <a:t> • </a:t>
            </a:r>
            <a:r>
              <a:rPr lang="en-IN" dirty="0"/>
              <a:t>PROJECT DEMO AND GITHUB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01D2D"/>
                </a:solidFill>
                <a:latin typeface="Aptos Display"/>
              </a:defRPr>
            </a:pPr>
            <a:r>
              <a:t>From raw billing records to an actionable FinOps 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197864"/>
            <a:ext cx="10881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57484"/>
                </a:solidFill>
                <a:latin typeface="Aptos"/>
              </a:defRPr>
            </a:pPr>
            <a:r>
              <a:t>The project combined data quality work, KPI engineering, EDA, dashboarding and business recommendations.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45920"/>
            <a:ext cx="3474720" cy="4160520"/>
          </a:xfrm>
          <a:prstGeom prst="roundRect">
            <a:avLst/>
          </a:prstGeom>
          <a:solidFill>
            <a:srgbClr val="F6F8FA"/>
          </a:solidFill>
          <a:ln w="8890"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901952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9AA6"/>
                </a:solidFill>
                <a:latin typeface="Aptos"/>
              </a:defRPr>
            </a:pPr>
            <a:r>
              <a:t>CHALLENGES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331720"/>
            <a:ext cx="2880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273443"/>
                </a:solidFill>
                <a:latin typeface="Aptos"/>
              </a:defRPr>
            </a:pPr>
            <a:r>
              <a:t>Interpreting cloud billing terminology</a:t>
            </a:r>
          </a:p>
          <a:p>
            <a:pPr>
              <a:spcAft>
                <a:spcPts val="700"/>
              </a:spcAft>
              <a:defRPr sz="1100">
                <a:solidFill>
                  <a:srgbClr val="273443"/>
                </a:solidFill>
                <a:latin typeface="Aptos"/>
              </a:defRPr>
            </a:pPr>
            <a:r>
              <a:t>Cleaning denormalized tags and structural issues</a:t>
            </a:r>
          </a:p>
          <a:p>
            <a:pPr>
              <a:spcAft>
                <a:spcPts val="700"/>
              </a:spcAft>
              <a:defRPr sz="1100">
                <a:solidFill>
                  <a:srgbClr val="273443"/>
                </a:solidFill>
                <a:latin typeface="Aptos"/>
              </a:defRPr>
            </a:pPr>
            <a:r>
              <a:t>Repairing unusable anomaly / budget indicators</a:t>
            </a:r>
          </a:p>
          <a:p>
            <a:pPr>
              <a:spcAft>
                <a:spcPts val="700"/>
              </a:spcAft>
              <a:defRPr sz="1100">
                <a:solidFill>
                  <a:srgbClr val="273443"/>
                </a:solidFill>
                <a:latin typeface="Aptos"/>
              </a:defRPr>
            </a:pPr>
            <a:r>
              <a:t>Designing meaningful KPIs from billing fields</a:t>
            </a:r>
          </a:p>
          <a:p>
            <a:pPr>
              <a:spcAft>
                <a:spcPts val="700"/>
              </a:spcAft>
              <a:defRPr sz="1100">
                <a:solidFill>
                  <a:srgbClr val="273443"/>
                </a:solidFill>
                <a:latin typeface="Aptos"/>
              </a:defRPr>
            </a:pPr>
            <a:r>
              <a:t>Turning 18 visualizations into one coherent story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45920"/>
            <a:ext cx="3474720" cy="41605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0288" y="1901952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2843D"/>
                </a:solidFill>
                <a:latin typeface="Aptos"/>
              </a:defRPr>
            </a:pPr>
            <a:r>
              <a:t>LEARNINGS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331720"/>
            <a:ext cx="2880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273443"/>
                </a:solidFill>
                <a:latin typeface="Aptos"/>
              </a:defRPr>
            </a:pPr>
            <a:r>
              <a:t>Cloud FinOps and commitment concepts</a:t>
            </a:r>
          </a:p>
          <a:p>
            <a:pPr>
              <a:spcAft>
                <a:spcPts val="700"/>
              </a:spcAft>
              <a:defRPr sz="1100">
                <a:solidFill>
                  <a:srgbClr val="273443"/>
                </a:solidFill>
                <a:latin typeface="Aptos"/>
              </a:defRPr>
            </a:pPr>
            <a:r>
              <a:t>Data-driven business storytelling</a:t>
            </a:r>
          </a:p>
          <a:p>
            <a:pPr>
              <a:spcAft>
                <a:spcPts val="700"/>
              </a:spcAft>
              <a:defRPr sz="1100">
                <a:solidFill>
                  <a:srgbClr val="273443"/>
                </a:solidFill>
                <a:latin typeface="Aptos"/>
              </a:defRPr>
            </a:pPr>
            <a:r>
              <a:t>Dashboard design for self-service analysis</a:t>
            </a:r>
          </a:p>
          <a:p>
            <a:pPr>
              <a:spcAft>
                <a:spcPts val="700"/>
              </a:spcAft>
              <a:defRPr sz="1100">
                <a:solidFill>
                  <a:srgbClr val="273443"/>
                </a:solidFill>
                <a:latin typeface="Aptos"/>
              </a:defRPr>
            </a:pPr>
            <a:r>
              <a:t>Prioritizing recommendations using evidence</a:t>
            </a:r>
          </a:p>
          <a:p>
            <a:pPr>
              <a:spcAft>
                <a:spcPts val="700"/>
              </a:spcAft>
              <a:defRPr sz="1100">
                <a:solidFill>
                  <a:srgbClr val="273443"/>
                </a:solidFill>
                <a:latin typeface="Aptos"/>
              </a:defRPr>
            </a:pPr>
            <a:r>
              <a:t>Connecting technical metrics to financial outcomes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645920"/>
            <a:ext cx="3246120" cy="4160520"/>
          </a:xfrm>
          <a:prstGeom prst="roundRect">
            <a:avLst/>
          </a:prstGeom>
          <a:solidFill>
            <a:srgbClr val="101D2D"/>
          </a:solidFill>
          <a:ln w="8890">
            <a:solidFill>
              <a:srgbClr val="101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48472" y="1901952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9AA6"/>
                </a:solidFill>
                <a:latin typeface="Aptos"/>
              </a:defRPr>
            </a:pPr>
            <a:r>
              <a:t>FINAL MESSAGE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8472" y="2331720"/>
            <a:ext cx="2697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 Display"/>
              </a:defRPr>
            </a:pPr>
            <a:r>
              <a:t>The data shows a governance problem — not a department problem.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72" y="3657600"/>
            <a:ext cx="2697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F2843D"/>
                </a:solidFill>
                <a:latin typeface="Aptos"/>
              </a:defRPr>
            </a:pPr>
            <a:r>
              <a:t>$123K–$188K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2" y="4133087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B9C9D6"/>
                </a:solidFill>
                <a:latin typeface="Aptos"/>
              </a:defRPr>
            </a:pPr>
            <a:r>
              <a:t>identified annual savings opportunity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8472" y="4800600"/>
            <a:ext cx="2697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Aptos"/>
              </a:defRPr>
            </a:pPr>
            <a:r>
              <a:t>Future scope: real-time FinOps, ML forecasting, automated recommendations and broader multi-cloud optimization.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519672"/>
            <a:ext cx="11155680" cy="9144"/>
          </a:xfrm>
          <a:prstGeom prst="rect">
            <a:avLst/>
          </a:prstGeom>
          <a:solidFill>
            <a:srgbClr val="E0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0352" y="655624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1">
                <a:solidFill>
                  <a:srgbClr val="657484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537960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00">
                <a:solidFill>
                  <a:srgbClr val="919DB5"/>
                </a:solidFill>
              </a:rPr>
              <a:t>18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E85ECEC-F9F9-56FF-0FF9-8E227A5B3EB4}"/>
              </a:ext>
            </a:extLst>
          </p:cNvPr>
          <p:cNvSpPr txBox="1"/>
          <p:nvPr/>
        </p:nvSpPr>
        <p:spPr>
          <a:xfrm>
            <a:off x="566928" y="320040"/>
            <a:ext cx="1097280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09AA6"/>
                </a:solidFill>
                <a:latin typeface="Aptos"/>
              </a:defRPr>
            </a:pPr>
            <a:r>
              <a:rPr lang="en-IN" dirty="0"/>
              <a:t>11</a:t>
            </a:r>
            <a:r>
              <a:rPr dirty="0"/>
              <a:t> • </a:t>
            </a:r>
            <a:r>
              <a:rPr lang="en-IN" dirty="0"/>
              <a:t>CHALLENGES,LEARNINGS AND CONCLUSION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1708</Words>
  <Application>Microsoft Office PowerPoint</Application>
  <PresentationFormat>Widescreen</PresentationFormat>
  <Paragraphs>338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Proma Mondal</cp:lastModifiedBy>
  <cp:revision>5</cp:revision>
  <dcterms:created xsi:type="dcterms:W3CDTF">2013-01-27T09:14:16Z</dcterms:created>
  <dcterms:modified xsi:type="dcterms:W3CDTF">2026-08-09T18:03:14Z</dcterms:modified>
  <cp:category/>
</cp:coreProperties>
</file>