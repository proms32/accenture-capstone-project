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3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75" r:id="rId14"/>
    <p:sldId id="269" r:id="rId15"/>
    <p:sldId id="268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87" d="100"/>
          <a:sy n="87" d="100"/>
        </p:scale>
        <p:origin x="499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594360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ACCENTURE • DATA ANALYTICS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Cloud Cost</a:t>
            </a:r>
            <a:br/>
            <a:r>
              <a:t>Optimization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60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D3DFE9"/>
                </a:solidFill>
                <a:latin typeface="Aptos"/>
              </a:defRPr>
            </a:pPr>
            <a:r>
              <a:rPr dirty="0"/>
              <a:t>Uncovering avoidable cloud spend across AWS, Azure &amp; GCP — and building the roadmap to reclaim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03320"/>
            <a:ext cx="246888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13232" y="3703320"/>
            <a:ext cx="64008" cy="107899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3831335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$407,980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261104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FY2023 net spend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3703320"/>
            <a:ext cx="246888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3703320"/>
            <a:ext cx="64008" cy="1078992"/>
          </a:xfrm>
          <a:prstGeom prst="rect">
            <a:avLst/>
          </a:prstGeom>
          <a:solidFill>
            <a:srgbClr val="F2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66160" y="3831335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+38.5%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261104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Jan → Dec growth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53328" y="3703320"/>
            <a:ext cx="246888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053328" y="3703320"/>
            <a:ext cx="64008" cy="107899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36208" y="3831335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22.2%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4261104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Dev + Staging spend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23376" y="3703320"/>
            <a:ext cx="2468880" cy="10789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723376" y="3703320"/>
            <a:ext cx="64008" cy="1078992"/>
          </a:xfrm>
          <a:prstGeom prst="rect">
            <a:avLst/>
          </a:prstGeom>
          <a:solidFill>
            <a:srgbClr val="F2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06255" y="3831335"/>
            <a:ext cx="21945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$123K–$188K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06255" y="4261104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Annual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97880"/>
            <a:ext cx="73152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B7C7D4"/>
                </a:solidFill>
                <a:latin typeface="Aptos"/>
              </a:defRPr>
            </a:pPr>
            <a:r>
              <a:rPr dirty="0"/>
              <a:t>FY2023 Cloud Billing Analysis  |  Kaggle Cloud Budget Dataset</a:t>
            </a:r>
            <a:endParaRPr lang="en-IN" dirty="0"/>
          </a:p>
        </p:txBody>
      </p:sp>
      <p:sp>
        <p:nvSpPr>
          <p:cNvPr id="24" name="Rectangle 23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CLOUD COST OPTIMIZATION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C89466-9862-09A6-6A25-FAD36A9CCF6B}"/>
              </a:ext>
            </a:extLst>
          </p:cNvPr>
          <p:cNvSpPr txBox="1"/>
          <p:nvPr/>
        </p:nvSpPr>
        <p:spPr>
          <a:xfrm>
            <a:off x="713232" y="5354643"/>
            <a:ext cx="10479024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B7C7D4"/>
                </a:solidFill>
                <a:latin typeface="Aptos"/>
              </a:defRPr>
            </a:pPr>
            <a:r>
              <a:rPr lang="en-IN" sz="1400" dirty="0"/>
              <a:t>Presented by Breakout Room 4 – Proma Mondal, Yash Chaudhary, Anurag Vyas, Aditya Marathe, Neam Adil 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01 • PROBLEM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The question is not 'why is cloud expensive?' — it is 'what is avoidable?'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project focuses on finding measurable waste without cutting operational capability.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257800" cy="425196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193852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BUSINESS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101D2D"/>
                </a:solidFill>
                <a:latin typeface="Aptos"/>
              </a:defRPr>
            </a:pPr>
            <a:r>
              <a:t>Cloud spend increased 38.5% from January to December.</a:t>
            </a:r>
          </a:p>
          <a:p>
            <a:pPr>
              <a:spcAft>
                <a:spcPts val="700"/>
              </a:spcAft>
              <a:defRPr sz="1300">
                <a:solidFill>
                  <a:srgbClr val="101D2D"/>
                </a:solidFill>
                <a:latin typeface="Aptos"/>
              </a:defRPr>
            </a:pPr>
            <a:r>
              <a:t>Multi-cloud usage makes cost ownership and optimization harder.</a:t>
            </a:r>
          </a:p>
          <a:p>
            <a:pPr>
              <a:spcAft>
                <a:spcPts val="700"/>
              </a:spcAft>
              <a:defRPr sz="1300">
                <a:solidFill>
                  <a:srgbClr val="101D2D"/>
                </a:solidFill>
                <a:latin typeface="Aptos"/>
              </a:defRPr>
            </a:pPr>
            <a:r>
              <a:t>Non-production resources, low commitment coverage and high on-demand exposure may represent avoidable spend.</a:t>
            </a:r>
          </a:p>
          <a:p>
            <a:pPr>
              <a:spcAft>
                <a:spcPts val="700"/>
              </a:spcAft>
              <a:defRPr sz="1300">
                <a:solidFill>
                  <a:srgbClr val="101D2D"/>
                </a:solidFill>
                <a:latin typeface="Aptos"/>
              </a:defRPr>
            </a:pPr>
            <a:r>
              <a:t>Leadership needs a way to locate waste and prioritize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4892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F2843D"/>
                </a:solidFill>
                <a:latin typeface="Aptos"/>
              </a:defRPr>
            </a:pPr>
            <a:r>
              <a:t>Kickoff target: identify ≥15% of annual spend as optimizable.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691640"/>
            <a:ext cx="5257800" cy="425196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28232" y="1938528"/>
            <a:ext cx="4663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PROJECT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2" y="2395728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Analyze FY2023 cloud spending and usage.</a:t>
            </a:r>
          </a:p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Engineer meaningful cost-efficiency KPIs.</a:t>
            </a:r>
          </a:p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Detect anomalies and inefficient utilization.</a:t>
            </a:r>
          </a:p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Identify high-value optimization opportunities.</a:t>
            </a:r>
          </a:p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Build an interactive dashboard for decision-makers.</a:t>
            </a:r>
          </a:p>
          <a:p>
            <a:pPr>
              <a:spcAft>
                <a:spcPts val="700"/>
              </a:spcAft>
              <a:defRPr sz="1300">
                <a:solidFill>
                  <a:srgbClr val="FFFFFF"/>
                </a:solidFill>
                <a:latin typeface="Aptos"/>
              </a:defRPr>
            </a:pPr>
            <a:r>
              <a:t>Translate findings into prioritized recommendations.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CLOUD COST OPTIMIZATION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2</a:t>
            </a:r>
            <a:r>
              <a:rPr dirty="0"/>
              <a:t> • WORKFLOW /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1">
                <a:solidFill>
                  <a:srgbClr val="101D2D"/>
                </a:solidFill>
                <a:latin typeface="Aptos Display"/>
              </a:defRPr>
            </a:pPr>
            <a:r>
              <a:t>How the components work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70432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57484"/>
                </a:solidFill>
                <a:latin typeface="Aptos"/>
              </a:defRPr>
            </a:pPr>
            <a:r>
              <a:t>An end-to-end flow from source data to an executive decision layer.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009AA6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Kaggle Cloud</a:t>
            </a:r>
            <a:br/>
            <a:r>
              <a:t>Budget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45059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574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87168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2843D"/>
                </a:solidFill>
                <a:latin typeface="Aptos"/>
              </a:defRPr>
            </a:pPr>
            <a:r>
              <a:t>PREP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87168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Cleaning</a:t>
            </a:r>
            <a:br/>
            <a:r>
              <a:t>&amp;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41648" y="245059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574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5968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25696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009AA6"/>
                </a:solidFill>
                <a:latin typeface="Aptos"/>
              </a:defRPr>
            </a:pPr>
            <a:r>
              <a:t>ANALYTICS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KPI Engineering</a:t>
            </a:r>
            <a:br/>
            <a:r>
              <a:t>+ 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0176" y="245059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574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2843D"/>
                </a:solidFill>
                <a:latin typeface="Aptos"/>
              </a:defRPr>
            </a:pPr>
            <a: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4224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Hotspots</a:t>
            </a:r>
            <a:br/>
            <a:r>
              <a:t>+ Waste Signals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18704" y="245059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574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4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02752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009AA6"/>
                </a:solidFill>
                <a:latin typeface="Aptos"/>
              </a:defRPr>
            </a:pPr>
            <a:r>
              <a:t>APP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Streamlit +</a:t>
            </a:r>
            <a:br/>
            <a:r>
              <a:t>Plotly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57232" y="2450592"/>
            <a:ext cx="228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657484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31552" y="2057400"/>
            <a:ext cx="1627632" cy="12344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241280" y="2240280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1">
                <a:solidFill>
                  <a:srgbClr val="F2843D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2578608"/>
            <a:ext cx="13716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101D2D"/>
                </a:solidFill>
                <a:latin typeface="Aptos"/>
              </a:defRPr>
            </a:pPr>
            <a:r>
              <a:t>Recommendations</a:t>
            </a:r>
            <a:br/>
            <a:r>
              <a:t>+ Roadmap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977639"/>
            <a:ext cx="3429000" cy="132588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206240"/>
            <a:ext cx="2971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FINANCE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52628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Spend, efficiency, savings opportunity and project prioritization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9120" y="3977639"/>
            <a:ext cx="3429000" cy="132588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17720" y="4206240"/>
            <a:ext cx="2971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ENGINEERING 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17720" y="452628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Resources, environments, exposure, service and region hotspots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2440" y="3977639"/>
            <a:ext cx="3429000" cy="132588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21040" y="4206240"/>
            <a:ext cx="29718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DECISION LAYER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4526280"/>
            <a:ext cx="2971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ptos"/>
              </a:defRPr>
            </a:pPr>
            <a:r>
              <a:t>Prioritized actions with measurable targets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30352" y="6547104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WORKFLOW / SYSTEM ARCHITECTURE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81360" y="6537960"/>
            <a:ext cx="6400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10896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3</a:t>
            </a:r>
            <a:r>
              <a:rPr dirty="0"/>
              <a:t>• TOOL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1">
                <a:solidFill>
                  <a:srgbClr val="101D2D"/>
                </a:solidFill>
                <a:latin typeface="Aptos Display"/>
              </a:defRPr>
            </a:pPr>
            <a:r>
              <a:t>Technology used across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70432"/>
            <a:ext cx="108813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>
                <a:solidFill>
                  <a:srgbClr val="657484"/>
                </a:solidFill>
                <a:latin typeface="Aptos"/>
              </a:defRPr>
            </a:pPr>
            <a:r>
              <a:t>Lightweight, reproducible tools support data preparation, analysis, visualization and delivery.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4592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79222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Python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178308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Core analytical language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19088" y="179222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Pandas / NumPy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78308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Cleaning, transformation and KPI calculations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9748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284378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Matplotlib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83464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EDA visualizations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69748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19088" y="284378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Plotly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83464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Interactive dashboard charts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749039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" y="389534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Streamlit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88620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Dashboard application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749039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89534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Jupyter / VS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88620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Development and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80060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86968" y="494690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Git / GitHub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93776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Version control and repository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4800600"/>
            <a:ext cx="5166360" cy="8229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19088" y="4946904"/>
            <a:ext cx="15544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CSV / Kaggle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937760"/>
            <a:ext cx="2971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Source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0352" y="6547104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TOOL STACK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37960"/>
            <a:ext cx="6400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4</a:t>
            </a:r>
            <a:r>
              <a:rPr dirty="0"/>
              <a:t> • 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A full year of daily, resource-level cloud billing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Source: Kaggle Cloud Budget Dataset • FY2023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2057400" cy="932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600200"/>
            <a:ext cx="64008" cy="93268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728216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54,750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579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billing records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2072" y="1600200"/>
            <a:ext cx="2057400" cy="932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62072" y="1600200"/>
            <a:ext cx="64008" cy="932688"/>
          </a:xfrm>
          <a:prstGeom prst="rect">
            <a:avLst/>
          </a:prstGeom>
          <a:solidFill>
            <a:srgbClr val="F2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1728216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21579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columns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9784" y="1600200"/>
            <a:ext cx="2057400" cy="932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9784" y="1600200"/>
            <a:ext cx="64008" cy="93268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12664" y="1728216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365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2664" y="21579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days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97496" y="1600200"/>
            <a:ext cx="2057400" cy="932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97496" y="1600200"/>
            <a:ext cx="64008" cy="932688"/>
          </a:xfrm>
          <a:prstGeom prst="rect">
            <a:avLst/>
          </a:prstGeom>
          <a:solidFill>
            <a:srgbClr val="F28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80375" y="1728216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0375" y="21579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providers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65208" y="1600200"/>
            <a:ext cx="2057400" cy="9326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65208" y="1600200"/>
            <a:ext cx="64008" cy="93268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48088" y="1728216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101D2D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48088" y="2157984"/>
            <a:ext cx="17830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regions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2788920"/>
            <a:ext cx="5349240" cy="251460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50392" y="3035808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3429000"/>
            <a:ext cx="46177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Business units: Finance, Marketing, HR, Engineering, Sales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Departments: Mobile, BI, DataPlatform, Security, WebApps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Environments: Production, Staging, Dev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Services: Serverless, Container, DB, Compute, Storage, Analytics, Networking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788920"/>
            <a:ext cx="5166360" cy="25146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28232" y="3035808"/>
            <a:ext cx="4572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DATA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28232" y="3429000"/>
            <a:ext cx="4480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FFFFFF"/>
                </a:solidFill>
                <a:latin typeface="Aptos"/>
              </a:defRPr>
            </a:pPr>
            <a:r>
              <a:t>9 / 10 overall quality 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28232" y="3977639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0 missing values • 0 duplicates</a:t>
            </a:r>
          </a:p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10 structural issues identified and resolved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CLOUD COST OPTIMIZATION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5</a:t>
            </a:r>
            <a:r>
              <a:rPr dirty="0"/>
              <a:t> • DATA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Step 1 — Clean the raw billing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goal was to make the source data reliable and analysis-ready before calculating any KPI.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3337560" cy="4343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1901952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RAW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331720"/>
            <a:ext cx="2651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FFFFFF"/>
                </a:solidFill>
                <a:latin typeface="Aptos Display"/>
              </a:defRPr>
            </a:pPr>
            <a:r>
              <a:t>54,750</a:t>
            </a:r>
            <a:br/>
            <a:r>
              <a:t>resource-day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401568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9C9D6"/>
                </a:solidFill>
                <a:latin typeface="Aptos"/>
              </a:defRPr>
            </a:pPr>
            <a:r>
              <a:t>Initial risks identified during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767328"/>
            <a:ext cx="26974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Denormalized tags</a:t>
            </a:r>
          </a:p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Inactive anomaly flag</a:t>
            </a:r>
          </a:p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Forecast outliers</a:t>
            </a:r>
          </a:p>
          <a:p>
            <a:pPr>
              <a:spcAft>
                <a:spcPts val="700"/>
              </a:spcAft>
              <a:defRPr sz="1100">
                <a:solidFill>
                  <a:srgbClr val="FFFFFF"/>
                </a:solidFill>
                <a:latin typeface="Aptos"/>
              </a:defRPr>
            </a:pPr>
            <a:r>
              <a:t>Invalid daily budget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2461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009AA6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1645920"/>
            <a:ext cx="6355080" cy="4343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1901952"/>
            <a:ext cx="5577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CLEANING &amp; VALIDATION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331720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009AA6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331720"/>
            <a:ext cx="1417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Date normalization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3886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657484"/>
                </a:solidFill>
                <a:latin typeface="Aptos"/>
              </a:defRPr>
            </a:pPr>
            <a:r>
              <a:t>Converted date strings to true datetime values.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90087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009AA6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990087"/>
            <a:ext cx="1417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Tag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990087"/>
            <a:ext cx="3886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657484"/>
                </a:solidFill>
                <a:latin typeface="Aptos"/>
              </a:defRPr>
            </a:pPr>
            <a:r>
              <a:t>Parsed the denormalized tags field into 5 queryable columns and cross-validated against source columns.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3648456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009AA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648456"/>
            <a:ext cx="1417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Anomaly repair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648456"/>
            <a:ext cx="3886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657484"/>
                </a:solidFill>
                <a:latin typeface="Aptos"/>
              </a:defRPr>
            </a:pPr>
            <a:r>
              <a:t>Re-engineered a working anomaly flag using the 95th percentile of anomaly_score (&gt;0.58).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306824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009AA6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306824"/>
            <a:ext cx="1417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Forecast outliers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4306824"/>
            <a:ext cx="3886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657484"/>
                </a:solidFill>
                <a:latin typeface="Aptos"/>
              </a:defRPr>
            </a:pPr>
            <a:r>
              <a:t>Flagged forecast outliers using the IQR method; records were retained rather than removed.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965192"/>
            <a:ext cx="347472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009AA6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965192"/>
            <a:ext cx="1417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Budget utilization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4965192"/>
            <a:ext cx="3886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657484"/>
                </a:solidFill>
                <a:latin typeface="Aptos"/>
              </a:defRPr>
            </a:pPr>
            <a:r>
              <a:t>Recalculated budget utilization at the monthly level because the daily-vs-monthly comparison was not meaningful.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800" y="5486400"/>
            <a:ext cx="5577840" cy="347472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440680" y="5568696"/>
            <a:ext cx="52120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0" b="1">
                <a:solidFill>
                  <a:srgbClr val="101D2D"/>
                </a:solidFill>
                <a:latin typeface="Aptos"/>
              </a:defRPr>
            </a:pPr>
            <a:r>
              <a:t>Result: trustworthy, analysis-ready billing data.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DATA PREPROCESSING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5</a:t>
            </a:r>
            <a:r>
              <a:rPr dirty="0"/>
              <a:t>• DATA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Step 2 — Engineer decision-ready KPIs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cleaned fields were transformed into metrics that connect billing behavior to optimization decisions.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530352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746504"/>
            <a:ext cx="493775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Cost Efficiency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net_cost / list_cost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39112"/>
            <a:ext cx="26974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How much of list cost becomes net cost?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30352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746504"/>
            <a:ext cx="493775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Discount Utilization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5740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discount_amount / list_cost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039112"/>
            <a:ext cx="26974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How effectively are available discounts used?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834640"/>
            <a:ext cx="530352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" y="2980944"/>
            <a:ext cx="493775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On-Demand Exposure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29184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on_demand_cost / net_cost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273552"/>
            <a:ext cx="26974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How much spend remains exposed to on-demand pricing?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834640"/>
            <a:ext cx="530352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2980944"/>
            <a:ext cx="493775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Idle Resource Indicator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1 if exposure &gt;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273552"/>
            <a:ext cx="26974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Proxy for high-exposure / potentially idle usage.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069080"/>
            <a:ext cx="5303520" cy="102412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4215384"/>
            <a:ext cx="493775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01D2D"/>
                </a:solidFill>
                <a:latin typeface="Aptos"/>
              </a:defRPr>
            </a:pPr>
            <a:r>
              <a:t>Cost per Usage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526280"/>
            <a:ext cx="2148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net_cost / usage_quantity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4507992"/>
            <a:ext cx="26974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657484"/>
                </a:solidFill>
                <a:latin typeface="Aptos"/>
              </a:defRPr>
            </a:pPr>
            <a:r>
              <a:t>Normalizes cost against observed usage.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349240"/>
            <a:ext cx="5166360" cy="621792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5504688"/>
            <a:ext cx="4709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These KPIs make raw billing data actionable for FinOps decisions.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DATA PREPROCESSING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6</a:t>
            </a:r>
            <a:r>
              <a:rPr dirty="0"/>
              <a:t> • EDA — COST &amp;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What does cloud spending and usage look like?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_net_cos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4792"/>
            <a:ext cx="3374136" cy="2093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25112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2_usage_by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764792"/>
            <a:ext cx="3374136" cy="209397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87368"/>
            <a:ext cx="3520440" cy="2057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3_anomaly_score_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3374136" cy="191109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5112" y="4087368"/>
            <a:ext cx="6400800" cy="2057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59"/>
            <a:ext cx="6035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KEY EDA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617720"/>
            <a:ext cx="6035040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Most resources have relatively low daily cost, while a smaller high-cost tail can drive disproportionate spend. Usage varies by service, so optimization must be service-aware. 2,738 records (5%) are above the 95th-percentile anomaly threshold.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EXPLORATORY DATA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6</a:t>
            </a:r>
            <a:r>
              <a:rPr dirty="0"/>
              <a:t> • EDA — TREND &amp;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Is the cost problem concentrated in one part of the organization?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4_monthly_net_cost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4792"/>
            <a:ext cx="3374136" cy="2093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25112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5_cost_by_business_u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764792"/>
            <a:ext cx="3374136" cy="209397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87368"/>
            <a:ext cx="3520440" cy="2057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6_cost_by_depart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3374136" cy="191109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5112" y="4087368"/>
            <a:ext cx="6400800" cy="2057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59"/>
            <a:ext cx="6035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KEY EDA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617720"/>
            <a:ext cx="6035040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Spend increased 38.5% from January to December. All five business units sit within a narrow spending band, so the increase is not explained by one department or BU.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EXPLORATORY DATA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6</a:t>
            </a:r>
            <a:r>
              <a:rPr dirty="0"/>
              <a:t>• EDA — ENVIRONMENT &amp;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Where is spend most actionable?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7_cost_by_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4792"/>
            <a:ext cx="3374136" cy="2093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25112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8_cost_by_environ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764792"/>
            <a:ext cx="3374136" cy="209397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87368"/>
            <a:ext cx="3520440" cy="2057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9_cost_efficiency_by_depart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3374136" cy="191109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5112" y="4087368"/>
            <a:ext cx="6400800" cy="2057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59"/>
            <a:ext cx="6035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KEY EDA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617720"/>
            <a:ext cx="6035040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Staging + Dev account for 22.2% of spend ($90,380). Department-level efficiency is comparatively narrow. Non-production is therefore a strong immediate optimization lever.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EXPLORATORY DATA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6</a:t>
            </a:r>
            <a:r>
              <a:rPr dirty="0"/>
              <a:t> • EDA — PRICING &amp; HOTSPOTS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Are we paying efficiently — and where are the hotspots?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0_discount_by_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4792"/>
            <a:ext cx="3374136" cy="2093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25112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11_heatmap_bu_serv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764792"/>
            <a:ext cx="3374136" cy="209397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87368"/>
            <a:ext cx="3520440" cy="2057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12_heatmap_region_provi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3374136" cy="191109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5112" y="4087368"/>
            <a:ext cx="6400800" cy="2057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59"/>
            <a:ext cx="6035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KEY EDA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617720"/>
            <a:ext cx="6035040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Average commitment coverage is 54.1%, leaving 46.5% of spend exposed to on-demand pricing. Cross-dimensional heatmaps identify where spend is concentrated.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EXPLORATORY DATA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6</a:t>
            </a:r>
            <a:r>
              <a:rPr dirty="0"/>
              <a:t> • EDA — WASTE &amp; FORECASTING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What else is driving avoidable cost?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16_idle_by_depart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4792"/>
            <a:ext cx="3374136" cy="20939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25112" y="1691640"/>
            <a:ext cx="3520440" cy="22402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17_correlat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764792"/>
            <a:ext cx="3374136" cy="209397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087368"/>
            <a:ext cx="3520440" cy="2057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18_forecast_vs_actu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160520"/>
            <a:ext cx="3374136" cy="191109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325112" y="4087368"/>
            <a:ext cx="6400800" cy="205740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4251959"/>
            <a:ext cx="6035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KEY EDA 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617720"/>
            <a:ext cx="6035040" cy="1362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Aptos"/>
              </a:defRPr>
            </a:pPr>
            <a:r>
              <a:t>11.3% of resource-days meet the &gt;80% on-demand exposure proxy. The engineered waste metrics behave consistently with underlying cost variables, while 10.5% of records are forecast outliers.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EXPLORATORY DATA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7</a:t>
            </a:r>
            <a:r>
              <a:rPr dirty="0"/>
              <a:t> • KEY INSIGHTS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What the analysis says — and what we should do about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strongest findings map directly to operational 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664207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38.5% spend growth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1664207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Investigate Q4 resource accumulation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664207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Quarterly cleanup + lifecycle governance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267712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22.2% non-prod 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377440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Reduce unnecessary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377440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Auto-stop Dev/Staging outside business hours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80944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90672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54.1% commitment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3090672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Reduce on-demand exposure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090672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Centralize RI / Savings Plan purchasing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94176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803904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11.3% high-exposure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54680" y="3803904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Detect inefficient resources earlier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803904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Automated idle-resource alerting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407408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517136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8.4% low SP + RI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4517136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Prioritize commitment candidates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517136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90-day usage analysis → 1-year commitments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120640"/>
            <a:ext cx="10972800" cy="58521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2960" y="5230368"/>
            <a:ext cx="22402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01D2D"/>
                </a:solidFill>
                <a:latin typeface="Aptos"/>
              </a:defRPr>
            </a:pPr>
            <a:r>
              <a:t>10.5% forecast outliers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5230368"/>
            <a:ext cx="33375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0">
                <a:solidFill>
                  <a:srgbClr val="273443"/>
                </a:solidFill>
                <a:latin typeface="Aptos"/>
              </a:defRPr>
            </a:pPr>
            <a:r>
              <a:t>Improve planning accuracy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5230368"/>
            <a:ext cx="44348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30" b="1">
                <a:solidFill>
                  <a:srgbClr val="009AA6"/>
                </a:solidFill>
                <a:latin typeface="Aptos"/>
              </a:defRPr>
            </a:pPr>
            <a:r>
              <a:t>Rebuild forecasting on historical trends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925312"/>
            <a:ext cx="10972800" cy="384048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2960" y="6016752"/>
            <a:ext cx="10515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8 recommendations identified  •  $123K–$188K annual savings opportunity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INSIGHTS &amp; RECOMMENDATIONS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1">
                <a:solidFill>
                  <a:srgbClr val="657484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Six months: quick wins → governance → structural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roadmap sequences low-risk savings actions before longer-term commitments.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3474720" cy="2606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MONTH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76272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01D2D"/>
                </a:solidFill>
                <a:latin typeface="Aptos Display"/>
              </a:defRPr>
            </a:pPr>
            <a:r>
              <a:t>QUICK WINS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70048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Audit unused Q4 resources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Auto-stop staging/dev 7 PM → 8 AM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Deploy provider-native idle alerts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6552" y="1600200"/>
            <a:ext cx="3474720" cy="2606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182880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F2843D"/>
                </a:solidFill>
                <a:latin typeface="Aptos"/>
              </a:defRPr>
            </a:pPr>
            <a:r>
              <a:t>MONTH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176272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01D2D"/>
                </a:solidFill>
                <a:latin typeface="Aptos Display"/>
              </a:defRPr>
            </a:pPr>
            <a:r>
              <a:t>STRATEGIC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670048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Use 90-day usage for RIs/SPs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Stand up FinOps team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Rebuild forecast models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38744" y="1600200"/>
            <a:ext cx="3474720" cy="260604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7344" y="182880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t>MONTH 5–6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2176272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01D2D"/>
                </a:solidFill>
                <a:latin typeface="Aptos Display"/>
              </a:defRPr>
            </a:pPr>
            <a:r>
              <a:t>LONG-TERM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2670048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Pilot spot instances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Cross-provider TCO analysis</a:t>
            </a:r>
          </a:p>
          <a:p>
            <a:pPr>
              <a:spcAft>
                <a:spcPts val="700"/>
              </a:spcAft>
              <a:defRPr sz="1000">
                <a:solidFill>
                  <a:srgbClr val="273443"/>
                </a:solidFill>
                <a:latin typeface="Aptos"/>
              </a:defRPr>
            </a:pPr>
            <a:r>
              <a:t>Workload placement guidelines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526280"/>
            <a:ext cx="10972800" cy="118872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4736592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6-MONTH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4709160"/>
            <a:ext cx="19202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$285K–$330K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4709160"/>
            <a:ext cx="1828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B8CAD8"/>
                </a:solidFill>
                <a:latin typeface="Aptos"/>
              </a:defRPr>
            </a:pPr>
            <a:r>
              <a:t>annual net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18288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70–75%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709160"/>
            <a:ext cx="1371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0">
                <a:solidFill>
                  <a:srgbClr val="B8CAD8"/>
                </a:solidFill>
                <a:latin typeface="Aptos"/>
              </a:defRPr>
            </a:pPr>
            <a:r>
              <a:t>commitment coverage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4709160"/>
            <a:ext cx="13258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4–6%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4709160"/>
            <a:ext cx="2743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0">
                <a:solidFill>
                  <a:srgbClr val="B8CAD8"/>
                </a:solidFill>
                <a:latin typeface="Aptos"/>
              </a:defRPr>
            </a:pPr>
            <a:r>
              <a:t>idle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349240"/>
            <a:ext cx="10332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Identified annual savings opportunity: $123K–$188K • 19–30% six-month cost reduction target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ROADMAP &amp;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00">
                <a:solidFill>
                  <a:srgbClr val="919DB5"/>
                </a:solidFill>
              </a:rPr>
              <a:t>16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0D22527-1A92-8BF4-953A-9A0A703FF042}"/>
              </a:ext>
            </a:extLst>
          </p:cNvPr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8</a:t>
            </a:r>
            <a:r>
              <a:rPr dirty="0"/>
              <a:t> • </a:t>
            </a:r>
            <a:r>
              <a:rPr lang="en-IN" dirty="0"/>
              <a:t>ROADMAP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AA6"/>
          </a:solidFill>
          <a:ln>
            <a:solidFill>
              <a:srgbClr val="009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2500" b="1" i="0">
                <a:solidFill>
                  <a:srgbClr val="1B253A"/>
                </a:solidFill>
                <a:latin typeface="Aptos"/>
              </a:rPr>
              <a:t>Where the organization stands today vs. the 6-month target.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The target state translates the recommendations into measurable operating outcomes.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19072"/>
            <a:ext cx="24231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526691"/>
                </a:solidFill>
                <a:latin typeface="Aptos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5264" y="1719072"/>
            <a:ext cx="128016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526691"/>
                </a:solidFill>
                <a:latin typeface="Aptos"/>
              </a:rPr>
              <a:t>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19072"/>
            <a:ext cx="1828800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526691"/>
                </a:solidFill>
                <a:latin typeface="Aptos"/>
              </a:rPr>
              <a:t>TARGET (6 MO)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03120"/>
            <a:ext cx="6903720" cy="13716"/>
          </a:xfrm>
          <a:prstGeom prst="rect">
            <a:avLst/>
          </a:prstGeom>
          <a:solidFill>
            <a:srgbClr val="DCE2ED"/>
          </a:solidFill>
          <a:ln>
            <a:solidFill>
              <a:srgbClr val="DC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" y="2103120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Annual Net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5264" y="2103120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$407,980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103120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$285,000–$330,000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615184"/>
            <a:ext cx="6903720" cy="512064"/>
          </a:xfrm>
          <a:prstGeom prst="rect">
            <a:avLst/>
          </a:prstGeom>
          <a:solidFill>
            <a:srgbClr val="EEF2FA"/>
          </a:solidFill>
          <a:ln>
            <a:solidFill>
              <a:srgbClr val="EE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615184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Non-Prod Spend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615184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22.2%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615184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10–12%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127248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Commitment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55264" y="3127248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54.1%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127248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70–75%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639312"/>
            <a:ext cx="6903720" cy="512064"/>
          </a:xfrm>
          <a:prstGeom prst="rect">
            <a:avLst/>
          </a:prstGeom>
          <a:solidFill>
            <a:srgbClr val="EEF2FA"/>
          </a:solidFill>
          <a:ln>
            <a:solidFill>
              <a:srgbClr val="EE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3639312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Idle Resource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5264" y="3639312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11.3%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639312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4–6%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151376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Cost Efficiency Ratio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55264" y="4151376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0.775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151376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0.65–0.70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4663440"/>
            <a:ext cx="6903720" cy="512064"/>
          </a:xfrm>
          <a:prstGeom prst="rect">
            <a:avLst/>
          </a:prstGeom>
          <a:solidFill>
            <a:srgbClr val="EEF2FA"/>
          </a:solidFill>
          <a:ln>
            <a:solidFill>
              <a:srgbClr val="EEF2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6928" y="4663440"/>
            <a:ext cx="251460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1B253A"/>
                </a:solidFill>
                <a:latin typeface="Aptos"/>
              </a:rPr>
              <a:t>Spot Instance Adoption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55264" y="4663440"/>
            <a:ext cx="15087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526691"/>
                </a:solidFill>
                <a:latin typeface="Aptos"/>
              </a:rPr>
              <a:t>~25%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4663440"/>
            <a:ext cx="1965960" cy="51206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5B52FF"/>
                </a:solidFill>
                <a:latin typeface="Aptos"/>
              </a:rPr>
              <a:t>40–50%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1719072"/>
            <a:ext cx="3886200" cy="3767328"/>
          </a:xfrm>
          <a:prstGeom prst="roundRect">
            <a:avLst/>
          </a:prstGeom>
          <a:solidFill>
            <a:srgbClr val="101D2D"/>
          </a:solidFill>
          <a:ln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01000" y="2176272"/>
            <a:ext cx="3337560" cy="6400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3100" b="1" i="0">
                <a:solidFill>
                  <a:srgbClr val="F23E91"/>
                </a:solidFill>
                <a:latin typeface="Aptos"/>
              </a:rPr>
              <a:t>19–30%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9" y="3017520"/>
            <a:ext cx="32461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BEC9DE"/>
                </a:solidFill>
                <a:latin typeface="Aptos"/>
              </a:rPr>
              <a:t>TOTAL COST REDUCTION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46719" y="3291839"/>
            <a:ext cx="324612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 i="0">
                <a:solidFill>
                  <a:srgbClr val="BEC9DE"/>
                </a:solidFill>
                <a:latin typeface="Aptos"/>
              </a:rPr>
              <a:t>ACHIEVABLE IN 6 MONTHS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95359" y="3639312"/>
            <a:ext cx="2148840" cy="10972"/>
          </a:xfrm>
          <a:prstGeom prst="rect">
            <a:avLst/>
          </a:prstGeom>
          <a:solidFill>
            <a:srgbClr val="32435B"/>
          </a:solidFill>
          <a:ln>
            <a:solidFill>
              <a:srgbClr val="3243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46719" y="4050791"/>
            <a:ext cx="324612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1">
                <a:solidFill>
                  <a:srgbClr val="CDD6E7"/>
                </a:solidFill>
                <a:latin typeface="Aptos"/>
              </a:rPr>
              <a:t>$123,000–$188,000 identified in total annual savings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9" y="4352544"/>
            <a:ext cx="3246120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000" b="0" i="1">
                <a:solidFill>
                  <a:srgbClr val="CDD6E7"/>
                </a:solidFill>
                <a:latin typeface="Aptos"/>
              </a:rPr>
              <a:t>opportunity across all 8 recommendations.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5184648"/>
            <a:ext cx="1463040" cy="2286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900" b="1" i="0">
                <a:solidFill>
                  <a:srgbClr val="526691"/>
                </a:solidFill>
                <a:latin typeface="Aptos"/>
              </a:rPr>
              <a:t>TARGET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449824"/>
            <a:ext cx="6903720" cy="3108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050" b="1" i="0">
                <a:solidFill>
                  <a:srgbClr val="1B253A"/>
                </a:solidFill>
                <a:latin typeface="Aptos"/>
              </a:rPr>
              <a:t>Lower cost  •  higher commitment coverage  •  less idle capacity  •  greater spot adoption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DCE2ED"/>
          </a:solidFill>
          <a:ln>
            <a:solidFill>
              <a:srgbClr val="DCE2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919DB5"/>
                </a:solidFill>
                <a:latin typeface="Aptos"/>
              </a:rPr>
              <a:t>CLOUD COST OPTIMIZATION  |  FY2023 ANALYSIS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919DB5"/>
                </a:solidFill>
                <a:latin typeface="Aptos"/>
              </a:rPr>
              <a:t>15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06EAA23-0187-2A7A-B9D9-E8D3FEB40DF5}"/>
              </a:ext>
            </a:extLst>
          </p:cNvPr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dirty="0"/>
              <a:t>0</a:t>
            </a:r>
            <a:r>
              <a:rPr lang="en-IN" dirty="0"/>
              <a:t>9</a:t>
            </a:r>
            <a:r>
              <a:rPr dirty="0"/>
              <a:t>• </a:t>
            </a:r>
            <a:r>
              <a:rPr lang="en-IN" dirty="0"/>
              <a:t>PROJECTED IMPACT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64008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300" b="1">
                <a:solidFill>
                  <a:srgbClr val="101D2D"/>
                </a:solidFill>
                <a:latin typeface="Aptos Display"/>
              </a:defRPr>
            </a:pPr>
            <a:r>
              <a:t>Executive dashboard — from analysis to self-service decision making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61288"/>
            <a:ext cx="10881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Built with Streamlit + Plotly; designed for finance and engineering leaders.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7086600" cy="443484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10512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☁ Cloud Cost Optimizer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39696"/>
            <a:ext cx="5303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0">
                <a:solidFill>
                  <a:srgbClr val="B5C7D5"/>
                </a:solidFill>
                <a:latin typeface="Aptos"/>
              </a:defRPr>
            </a:pPr>
            <a:r>
              <a:t>Interactive 2023 cloud cost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514600"/>
            <a:ext cx="1481328" cy="713232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642616"/>
            <a:ext cx="12618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$407.9K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16936"/>
            <a:ext cx="126187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20" b="0">
                <a:solidFill>
                  <a:srgbClr val="AFC1CF"/>
                </a:solidFill>
                <a:latin typeface="Aptos"/>
              </a:defRPr>
            </a:pPr>
            <a:r>
              <a:t>Total Spend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514600"/>
            <a:ext cx="1481328" cy="713232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78608" y="2642616"/>
            <a:ext cx="12618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38.5%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78608" y="2916936"/>
            <a:ext cx="126187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20" b="0">
                <a:solidFill>
                  <a:srgbClr val="AFC1CF"/>
                </a:solidFill>
                <a:latin typeface="Aptos"/>
              </a:defRPr>
            </a:pPr>
            <a:r>
              <a:t>Growth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2514600"/>
            <a:ext cx="1481328" cy="713232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242816" y="2642616"/>
            <a:ext cx="12618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11.3%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2816" y="2916936"/>
            <a:ext cx="126187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20" b="0">
                <a:solidFill>
                  <a:srgbClr val="AFC1CF"/>
                </a:solidFill>
                <a:latin typeface="Aptos"/>
              </a:defRPr>
            </a:pPr>
            <a:r>
              <a:t>Idle / Exposure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97296" y="2514600"/>
            <a:ext cx="1481328" cy="713232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07024" y="2642616"/>
            <a:ext cx="126187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54.1%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7024" y="2916936"/>
            <a:ext cx="126187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20" b="0">
                <a:solidFill>
                  <a:srgbClr val="AFC1CF"/>
                </a:solidFill>
                <a:latin typeface="Aptos"/>
              </a:defRPr>
            </a:pPr>
            <a:r>
              <a:t>Commitment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3493008"/>
            <a:ext cx="3886200" cy="1417320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3675887"/>
            <a:ext cx="3474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C6D4E0"/>
                </a:solidFill>
                <a:latin typeface="Aptos"/>
              </a:defRPr>
            </a:pPr>
            <a:r>
              <a:t>Monthly Cost Trend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7552" y="4425696"/>
            <a:ext cx="256032" cy="16459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426464" y="4334255"/>
            <a:ext cx="256032" cy="25603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865376" y="4370831"/>
            <a:ext cx="256032" cy="219456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304288" y="4242816"/>
            <a:ext cx="256032" cy="34747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43200" y="4087368"/>
            <a:ext cx="256032" cy="502920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182112" y="3931920"/>
            <a:ext cx="256032" cy="65836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21024" y="4023359"/>
            <a:ext cx="256032" cy="566928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892040" y="3493008"/>
            <a:ext cx="2240280" cy="1417320"/>
          </a:xfrm>
          <a:prstGeom prst="roundRect">
            <a:avLst/>
          </a:prstGeom>
          <a:solidFill>
            <a:srgbClr val="182B3F"/>
          </a:solidFill>
          <a:ln w="8890">
            <a:solidFill>
              <a:srgbClr val="374C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74920" y="3675887"/>
            <a:ext cx="1828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50" b="1">
                <a:solidFill>
                  <a:srgbClr val="C6D4E0"/>
                </a:solidFill>
                <a:latin typeface="Aptos"/>
              </a:defRPr>
            </a:pPr>
            <a:r>
              <a:t>Top Waste Projects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4041648"/>
            <a:ext cx="17373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AFC1CF"/>
                </a:solidFill>
                <a:latin typeface="Aptos"/>
              </a:defRPr>
            </a:pPr>
            <a:r>
              <a:t>Project 1   $$$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288536"/>
            <a:ext cx="17373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AFC1CF"/>
                </a:solidFill>
                <a:latin typeface="Aptos"/>
              </a:defRPr>
            </a:pPr>
            <a:r>
              <a:t>Project 2   $$$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4535424"/>
            <a:ext cx="1737360" cy="155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AFC1CF"/>
                </a:solidFill>
                <a:latin typeface="Aptos"/>
              </a:defRPr>
            </a:pPr>
            <a:r>
              <a:t>Project 3   $$$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321808"/>
            <a:ext cx="63093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0">
                <a:solidFill>
                  <a:srgbClr val="AABECD"/>
                </a:solidFill>
                <a:latin typeface="Aptos"/>
              </a:defRPr>
            </a:pPr>
            <a:r>
              <a:t>Filters: Date • Provider • BU • Department • Environment • Region • 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1600200"/>
            <a:ext cx="3429000" cy="443484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83879" y="1856231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DASHBOARD CAPABILITIES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83879" y="2267712"/>
            <a:ext cx="274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101D2D"/>
                </a:solidFill>
                <a:latin typeface="Aptos"/>
              </a:defRPr>
            </a:pPr>
            <a:r>
              <a:t>KPI cards: Total Spend, Avg Daily Cost, Discount Rate, Idle %</a:t>
            </a:r>
          </a:p>
          <a:p>
            <a:pPr>
              <a:spcAft>
                <a:spcPts val="700"/>
              </a:spcAft>
              <a:defRPr sz="1050">
                <a:solidFill>
                  <a:srgbClr val="101D2D"/>
                </a:solidFill>
                <a:latin typeface="Aptos"/>
              </a:defRPr>
            </a:pPr>
            <a:r>
              <a:t>Interactive filters across 7 dimensions</a:t>
            </a:r>
          </a:p>
          <a:p>
            <a:pPr>
              <a:spcAft>
                <a:spcPts val="700"/>
              </a:spcAft>
              <a:defRPr sz="1050">
                <a:solidFill>
                  <a:srgbClr val="101D2D"/>
                </a:solidFill>
                <a:latin typeface="Aptos"/>
              </a:defRPr>
            </a:pPr>
            <a:r>
              <a:t>Monthly cost trends and provider / department comparisons</a:t>
            </a:r>
          </a:p>
          <a:p>
            <a:pPr>
              <a:spcAft>
                <a:spcPts val="700"/>
              </a:spcAft>
              <a:defRPr sz="1050">
                <a:solidFill>
                  <a:srgbClr val="101D2D"/>
                </a:solidFill>
                <a:latin typeface="Aptos"/>
              </a:defRPr>
            </a:pPr>
            <a:r>
              <a:t>Top-wasteful-project table &amp; cost-efficiency leaderboard</a:t>
            </a:r>
          </a:p>
          <a:p>
            <a:pPr>
              <a:spcAft>
                <a:spcPts val="700"/>
              </a:spcAft>
              <a:defRPr sz="1050">
                <a:solidFill>
                  <a:srgbClr val="101D2D"/>
                </a:solidFill>
                <a:latin typeface="Aptos"/>
              </a:defRPr>
            </a:pPr>
            <a:r>
              <a:t>Anomaly detection view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83879" y="4224528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GITHUB REPOSITORY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83879" y="4572000"/>
            <a:ext cx="27432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101D2D"/>
                </a:solidFill>
                <a:latin typeface="Aptos"/>
              </a:defRPr>
            </a:pPr>
            <a:r>
              <a:t>Source code</a:t>
            </a:r>
            <a:br/>
            <a:r>
              <a:t>EDA • preprocessing • dashboard • reports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5440680"/>
            <a:ext cx="2743200" cy="4847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850" b="0">
                <a:solidFill>
                  <a:srgbClr val="657484"/>
                </a:solidFill>
                <a:latin typeface="Aptos"/>
              </a:defRPr>
            </a:pPr>
            <a:r>
              <a:rPr dirty="0"/>
              <a:t>Repository link: </a:t>
            </a:r>
            <a:r>
              <a:rPr lang="en-IN" b="1" dirty="0">
                <a:solidFill>
                  <a:schemeClr val="tx2">
                    <a:lumMod val="50000"/>
                  </a:schemeClr>
                </a:solidFill>
              </a:rPr>
              <a:t>https://github.com/Proms32/Accenture-capstone-project</a:t>
            </a:r>
            <a:endParaRPr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PROJECT DEMO &amp; GITHUB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00">
                <a:solidFill>
                  <a:srgbClr val="919DB5"/>
                </a:solidFill>
              </a:rPr>
              <a:t>17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0F5A81-8555-7C40-B8AD-8863FE733F16}"/>
              </a:ext>
            </a:extLst>
          </p:cNvPr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lang="en-IN" dirty="0"/>
              <a:t>10</a:t>
            </a:r>
            <a:r>
              <a:rPr dirty="0"/>
              <a:t> • </a:t>
            </a:r>
            <a:r>
              <a:rPr lang="en-IN" dirty="0"/>
              <a:t>PROJECT DEMO AND GITHUB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9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972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101D2D"/>
                </a:solidFill>
                <a:latin typeface="Aptos Display"/>
              </a:defRPr>
            </a:pPr>
            <a:r>
              <a:t>From raw billing records to an actionable FinOps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197864"/>
            <a:ext cx="10881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657484"/>
                </a:solidFill>
                <a:latin typeface="Aptos"/>
              </a:defRPr>
            </a:pPr>
            <a:r>
              <a:t>The project combined data quality work, KPI engineering, EDA, dashboarding and business recommendations.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45920"/>
            <a:ext cx="3474720" cy="4160520"/>
          </a:xfrm>
          <a:prstGeom prst="roundRect">
            <a:avLst/>
          </a:prstGeom>
          <a:solidFill>
            <a:srgbClr val="F6F8FA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" y="1901952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2880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Interpreting cloud billing terminology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Cleaning denormalized tags and structural issues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Repairing unusable anomaly / budget indicators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Designing meaningful KPIs from billing fields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Turning 18 visualizations into one coherent story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41605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0E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1901952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2843D"/>
                </a:solidFill>
                <a:latin typeface="Aptos"/>
              </a:defRPr>
            </a:pPr>
            <a:r>
              <a:t>LEARNINGS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2880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Cloud FinOps and commitment concepts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Data-driven business storytelling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Dashboard design for self-service analysis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Prioritizing recommendations using evidence</a:t>
            </a:r>
          </a:p>
          <a:p>
            <a:pPr>
              <a:spcAft>
                <a:spcPts val="700"/>
              </a:spcAft>
              <a:defRPr sz="1100">
                <a:solidFill>
                  <a:srgbClr val="273443"/>
                </a:solidFill>
                <a:latin typeface="Aptos"/>
              </a:defRPr>
            </a:pPr>
            <a:r>
              <a:t>Connecting technical metrics to financial outcomes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45920"/>
            <a:ext cx="3246120" cy="4160520"/>
          </a:xfrm>
          <a:prstGeom prst="roundRect">
            <a:avLst/>
          </a:prstGeom>
          <a:solidFill>
            <a:srgbClr val="101D2D"/>
          </a:solidFill>
          <a:ln w="8890">
            <a:solidFill>
              <a:srgbClr val="101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48472" y="190195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009AA6"/>
                </a:solidFill>
                <a:latin typeface="Aptos"/>
              </a:defRPr>
            </a:pPr>
            <a:r>
              <a:t>FINAL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8472" y="2331720"/>
            <a:ext cx="2697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The data shows a governance problem — not a department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3657600"/>
            <a:ext cx="2697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2843D"/>
                </a:solidFill>
                <a:latin typeface="Aptos"/>
              </a:defRPr>
            </a:pPr>
            <a:r>
              <a:t>$123K–$188K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4133087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B9C9D6"/>
                </a:solidFill>
                <a:latin typeface="Aptos"/>
              </a:defRPr>
            </a:pPr>
            <a:r>
              <a:t>identified annual savings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4800600"/>
            <a:ext cx="2697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ptos"/>
              </a:defRPr>
            </a:pPr>
            <a:r>
              <a:t>Future scope: real-time FinOps, ML forecasting, automated recommendations and broader multi-cloud optimization.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9672"/>
            <a:ext cx="11155680" cy="9144"/>
          </a:xfrm>
          <a:prstGeom prst="rect">
            <a:avLst/>
          </a:prstGeom>
          <a:solidFill>
            <a:srgbClr val="E0E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0352" y="6556248"/>
            <a:ext cx="4572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750" b="1">
                <a:solidFill>
                  <a:srgbClr val="657484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37960"/>
            <a:ext cx="6400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800">
                <a:solidFill>
                  <a:srgbClr val="919DB5"/>
                </a:solidFill>
              </a:rPr>
              <a:t>18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85ECEC-F9F9-56FF-0FF9-8E227A5B3EB4}"/>
              </a:ext>
            </a:extLst>
          </p:cNvPr>
          <p:cNvSpPr txBox="1"/>
          <p:nvPr/>
        </p:nvSpPr>
        <p:spPr>
          <a:xfrm>
            <a:off x="566928" y="320040"/>
            <a:ext cx="109728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0" b="1">
                <a:solidFill>
                  <a:srgbClr val="009AA6"/>
                </a:solidFill>
                <a:latin typeface="Aptos"/>
              </a:defRPr>
            </a:pPr>
            <a:r>
              <a:rPr lang="en-IN" dirty="0"/>
              <a:t>11</a:t>
            </a:r>
            <a:r>
              <a:rPr dirty="0"/>
              <a:t> • </a:t>
            </a:r>
            <a:r>
              <a:rPr lang="en-IN" dirty="0"/>
              <a:t>CHALLENGES,LEARNINGS AND CONCLUSION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1682</Words>
  <Application>Microsoft Office PowerPoint</Application>
  <PresentationFormat>Widescreen</PresentationFormat>
  <Paragraphs>324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Proma Mondal</cp:lastModifiedBy>
  <cp:revision>8</cp:revision>
  <dcterms:created xsi:type="dcterms:W3CDTF">2013-01-27T09:14:16Z</dcterms:created>
  <dcterms:modified xsi:type="dcterms:W3CDTF">2026-08-11T05:16:37Z</dcterms:modified>
  <cp:category/>
</cp:coreProperties>
</file>